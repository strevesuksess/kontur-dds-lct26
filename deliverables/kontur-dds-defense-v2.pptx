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f10f4547b2848f3" /><Relationship Type="http://schemas.openxmlformats.org/officeDocument/2006/relationships/extended-properties" Target="/docProps/app.xml" Id="R36919ebba5fd4d05" /><Relationship Type="http://schemas.openxmlformats.org/officeDocument/2006/relationships/officeDocument" Target="/ppt/presentation.xml" Id="R181960b48c8d4a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14a5a907c44b55"/>
  </p:sldMasterIdLst>
  <p:notesMasterIdLst>
    <p:notesMasterId xmlns:r="http://schemas.openxmlformats.org/officeDocument/2006/relationships" r:id="Ra4bfc2b55533497c"/>
  </p:notesMasterIdLst>
  <p:sldIdLst>
    <p:sldId xmlns:r="http://schemas.openxmlformats.org/officeDocument/2006/relationships" id="256" r:id="Rd943343e77c5413d"/>
    <p:sldId xmlns:r="http://schemas.openxmlformats.org/officeDocument/2006/relationships" id="257" r:id="Rf3e6a4401a0d4fec"/>
    <p:sldId xmlns:r="http://schemas.openxmlformats.org/officeDocument/2006/relationships" id="258" r:id="Re15cfe7796a047d8"/>
    <p:sldId xmlns:r="http://schemas.openxmlformats.org/officeDocument/2006/relationships" id="259" r:id="Re308438b5e764458"/>
    <p:sldId xmlns:r="http://schemas.openxmlformats.org/officeDocument/2006/relationships" id="260" r:id="Rc8123e007566416f"/>
    <p:sldId xmlns:r="http://schemas.openxmlformats.org/officeDocument/2006/relationships" id="261" r:id="R5f790ae972b64c05"/>
    <p:sldId xmlns:r="http://schemas.openxmlformats.org/officeDocument/2006/relationships" id="262" r:id="R5a8726f2d0c6416e"/>
    <p:sldId xmlns:r="http://schemas.openxmlformats.org/officeDocument/2006/relationships" id="263" r:id="R066180adea934068"/>
    <p:sldId xmlns:r="http://schemas.openxmlformats.org/officeDocument/2006/relationships" id="264" r:id="R5051d5e88504421d"/>
    <p:sldId xmlns:r="http://schemas.openxmlformats.org/officeDocument/2006/relationships" id="265" r:id="R2d64d0fba34b443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79527e2ad04c26" /><Relationship Type="http://schemas.openxmlformats.org/officeDocument/2006/relationships/slideMaster" Target="/ppt/slideMasters/slideMaster1.xml" Id="Ra314a5a907c44b55" /><Relationship Type="http://schemas.openxmlformats.org/officeDocument/2006/relationships/notesMaster" Target="/ppt/notesMasters/notesMaster1.xml" Id="Ra4bfc2b55533497c" /><Relationship Type="http://schemas.openxmlformats.org/officeDocument/2006/relationships/presProps" Target="/ppt/presProps.xml" Id="R90b6d92145894537" /><Relationship Type="http://schemas.openxmlformats.org/officeDocument/2006/relationships/tableStyles" Target="/ppt/tableStyles.xml" Id="R1530c425d2b848b2" /><Relationship Type="http://schemas.openxmlformats.org/officeDocument/2006/relationships/slide" Target="/ppt/slides/slide1.xml" Id="Rd943343e77c5413d" /><Relationship Type="http://schemas.openxmlformats.org/officeDocument/2006/relationships/slide" Target="/ppt/slides/slide2.xml" Id="Rf3e6a4401a0d4fec" /><Relationship Type="http://schemas.openxmlformats.org/officeDocument/2006/relationships/slide" Target="/ppt/slides/slide3.xml" Id="Re15cfe7796a047d8" /><Relationship Type="http://schemas.openxmlformats.org/officeDocument/2006/relationships/slide" Target="/ppt/slides/slide4.xml" Id="Re308438b5e764458" /><Relationship Type="http://schemas.openxmlformats.org/officeDocument/2006/relationships/slide" Target="/ppt/slides/slide5.xml" Id="Rc8123e007566416f" /><Relationship Type="http://schemas.openxmlformats.org/officeDocument/2006/relationships/slide" Target="/ppt/slides/slide6.xml" Id="R5f790ae972b64c05" /><Relationship Type="http://schemas.openxmlformats.org/officeDocument/2006/relationships/slide" Target="/ppt/slides/slide7.xml" Id="R5a8726f2d0c6416e" /><Relationship Type="http://schemas.openxmlformats.org/officeDocument/2006/relationships/slide" Target="/ppt/slides/slide8.xml" Id="R066180adea934068" /><Relationship Type="http://schemas.openxmlformats.org/officeDocument/2006/relationships/slide" Target="/ppt/slides/slide9.xml" Id="R5051d5e88504421d" /><Relationship Type="http://schemas.openxmlformats.org/officeDocument/2006/relationships/slide" Target="/ppt/slides/slide10.xml" Id="R2d64d0fba34b443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21142f46b6341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e3cdd7d32d45e5" /><Relationship Type="http://schemas.openxmlformats.org/officeDocument/2006/relationships/notesMaster" Target="/ppt/notesMasters/notesMaster1.xml" Id="R2611e8582c6541e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0163fae6ba44be" /><Relationship Type="http://schemas.openxmlformats.org/officeDocument/2006/relationships/notesMaster" Target="/ppt/notesMasters/notesMaster1.xml" Id="Ra72e997e27b54f4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0d1f76cd61048d7" /><Relationship Type="http://schemas.openxmlformats.org/officeDocument/2006/relationships/notesMaster" Target="/ppt/notesMasters/notesMaster1.xml" Id="R10f7c81b68e9427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419c57fbaeb4a2f" /><Relationship Type="http://schemas.openxmlformats.org/officeDocument/2006/relationships/notesMaster" Target="/ppt/notesMasters/notesMaster1.xml" Id="R4ccf7e8a5cd6499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c759a3c9cdb40f3" /><Relationship Type="http://schemas.openxmlformats.org/officeDocument/2006/relationships/notesMaster" Target="/ppt/notesMasters/notesMaster1.xml" Id="Rfa505c7f3e4d461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6fabd5ae10840a3" /><Relationship Type="http://schemas.openxmlformats.org/officeDocument/2006/relationships/notesMaster" Target="/ppt/notesMasters/notesMaster1.xml" Id="Rf1be117ef9624ee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442d9d0f4634f17" /><Relationship Type="http://schemas.openxmlformats.org/officeDocument/2006/relationships/notesMaster" Target="/ppt/notesMasters/notesMaster1.xml" Id="R4631301c08d84dd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d83f2578cfa47f7" /><Relationship Type="http://schemas.openxmlformats.org/officeDocument/2006/relationships/notesMaster" Target="/ppt/notesMasters/notesMaster1.xml" Id="R03fbfd7115124d0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f54f13e1fd54815" /><Relationship Type="http://schemas.openxmlformats.org/officeDocument/2006/relationships/notesMaster" Target="/ppt/notesMasters/notesMaster1.xml" Id="Rb418ffaf7c8a441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bb1b488b0224d1b" /><Relationship Type="http://schemas.openxmlformats.org/officeDocument/2006/relationships/notesMaster" Target="/ppt/notesMasters/notesMaster1.xml" Id="R7a3629a88f1548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docs/product-research.md; Q&amp;A https://drive.google.com/file/d/1qpYkmGuSVKPBrBQgC_WB5luTcDzr0ZW9/view. RC2 — исходный код с адресным разбором. Инженерная и педагогическая проверка имеют разные статусы.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Q&amp;A https://drive.google.com/file/d/1qpYkmGuSVKPBrBQgC_WB5luTcDzr0ZW9/view, 17:42–18:51, 21:41–24:11, 39:12–43:19. См. docs/product-research.md. Задание начинается после оформления карточки 112; имитация первого звонка гражданина не входит в выбранный MVP.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Публичные сведения поставщиков, не сравнительное испытание: https://911trainer.com/ ; https://equature.com/solutions/smartsim ; https://www.sklls.ai/ ; https://www.eventidecommunications.com/critical-insights-ai-training-simulator/ . Российские комплексы: https://www.umcgo.ru/8-main-menu.html ; https://sibpsa.ru/sveden/objects/ . Анализ и оговорки: docs/product-research.md.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Фактический экран RC1 из deliverables/assets/workspace-viewport.png. Дизайн учебного АРМ основан на скриншотах, предоставленных заказчиком, и Q&amp;A 25:15–27:47. Методист не проверял применимость к действующему рабочему АРМ. Программный учебный телефон без реальной SIP-сети.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Контракт RC2: docs/specs/criterion-review.md, docs/api-contract.md; реализация backend/app/expert_review.py и frontend/src/components/CriterionReview.tsx. Таблица описывает механизм, не является скриншотом исследования с пользователем. Исходная оценка правил неизменна; решение по критерию и обоснование сохраняются отдельно; общий итог подтверждается явно.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docs/architecture.md, docs/local-ai.md, docs/local-ai-validation.json, docs/ui-validation.md. Qwen3-1.7B выполняет узкую генерацию и экспериментальные подсказки, не выставляет итоговую оценку. Whisper-small возвращает черновик распознанного текста; учащийся подтверждает его перед отправкой. Linux и целевой i5/16 ГБ не проверены.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docs/model-comparison.md и docs/model-comparison.json. До запросов зафиксированы 24 минимальные пары, 48 авторских синтетических примеров и пороги: 44/48 точных, улучшение ≥5, ноль ложных подтверждений, p95 ≤15с, RSS ≤8ГиБ. Qwen3-4B: 32/48, +10 к 1.7B, 4 ложных подтверждения, p95 7.28с, RSS5.40ГиБ; gate не пройден. Набор не проверен методистами и не является реальной точностью.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docs/load-test-results.json generated_at=2026-09-18T22:38:04.182633+00:00; docs/benchmark-results.json generated_at=2026-09-26T00:41:56.892191+00:00. Короткий HTTP API burst на Mac arm64/48ГБ, 1 worker SQLiteWAL. Синтетический development benchmark без независимой методистской разметки. Не измерялись browser rendering100users, живой класс, длительная нагрузка, перенос навыка.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docs/pilot-protocol.md и docs/pilot-templates/README.md. План: 2 преподавателя, 6–8 учащихся, 45–60 минут; независимый разбор обезличенных журналов и сопоставимые задания. В обоих условиях, ручном и продуктовом, планируется симметрично измерять подготовку, проверку, исправления и обратную связь. До исследования нужно зафиксировать сценарии, критические критерии и процедуры. Формы пусты, людей не тестировали.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docs/pilot-protocol.md, разделы 8–10: ≥20% медианной экономии активного времени у каждого из двух преподавателей при корректной проверке — заранее заданный ориентир; не наблюдённый результат. Отдельно считаются критические ложные зачёты и перенос на новый случай. Технические проверки RC2/офлайн-пакет фиксируются в docs/release-readiness.md.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3e0e407cfd411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2f40f665824fc7" /><Relationship Type="http://schemas.openxmlformats.org/officeDocument/2006/relationships/slideLayout" Target="/ppt/slideLayouts/slideLayout1.xml" Id="R445390966b4641d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5390966b4641d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9ce2def7814cce" /><Relationship Type="http://schemas.openxmlformats.org/officeDocument/2006/relationships/notesSlide" Target="/ppt/notesSlides/notesSlide1.xml" Id="Rdf5e7ae6475c436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66c3ad84d74304" /><Relationship Type="http://schemas.openxmlformats.org/officeDocument/2006/relationships/notesSlide" Target="/ppt/notesSlides/notesSlide2.xml" Id="R8b3b4c2da3c8490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d4084326a94c04" /><Relationship Type="http://schemas.openxmlformats.org/officeDocument/2006/relationships/notesSlide" Target="/ppt/notesSlides/notesSlide3.xml" Id="R276c5c6a708342b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b06376c4ce417b" /><Relationship Type="http://schemas.openxmlformats.org/officeDocument/2006/relationships/image" Target="/ppt/media/image.jpeg" Id="R62cf23f3edf94efd" /><Relationship Type="http://schemas.openxmlformats.org/officeDocument/2006/relationships/notesSlide" Target="/ppt/notesSlides/notesSlide4.xml" Id="Rdddffd42b46942c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8e263f07d049f7" /><Relationship Type="http://schemas.openxmlformats.org/officeDocument/2006/relationships/notesSlide" Target="/ppt/notesSlides/notesSlide5.xml" Id="R02bba2e1d9de48f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9c3b7e17ef42f1" /><Relationship Type="http://schemas.openxmlformats.org/officeDocument/2006/relationships/notesSlide" Target="/ppt/notesSlides/notesSlide6.xml" Id="R92de8044e5d34dd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247290b6d847e6" /><Relationship Type="http://schemas.openxmlformats.org/officeDocument/2006/relationships/notesSlide" Target="/ppt/notesSlides/notesSlide7.xml" Id="R6a5949a1b6c14f2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a7553dc8e84f30" /><Relationship Type="http://schemas.openxmlformats.org/officeDocument/2006/relationships/notesSlide" Target="/ppt/notesSlides/notesSlide8.xml" Id="Rfc7f2e2536754d3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dc4341be1a43e5" /><Relationship Type="http://schemas.openxmlformats.org/officeDocument/2006/relationships/notesSlide" Target="/ppt/notesSlides/notesSlide9.xml" Id="R2c21de0d001a442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c62f03f94d4617" /><Relationship Type="http://schemas.openxmlformats.org/officeDocument/2006/relationships/notesSlide" Target="/ppt/notesSlides/notesSlide10.xml" Id="R353be7ba46674e4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035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1">
            <a:extLst xmlns:a="http://schemas.openxmlformats.org/drawingml/2006/main">
              <a:ext uri="{FF2B5EF4-FFF2-40B4-BE49-F238E27FC236}">
                <a16:creationId xmlns:a16="http://schemas.microsoft.com/office/drawing/2014/main" id="{E7922CFA-F9D3-4E18-A691-F56060B7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ED3C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ED3C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B3010CEA-5BCD-439D-92D7-1C1667427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85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6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Контур ДДС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C0280A63-7E91-4B0A-8A8D-2948945B9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0"/>
            <a:ext cx="10287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BED3C4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BED3C4"/>
                </a:solidFill>
                <a:latin typeface="Arial"/>
                <a:ea typeface="Arial"/>
                <a:cs typeface="Arial"/>
              </a:rPr>
              <a:t>Тренажёр работы по готовой</a:t>
            </a:r>
          </a:p>
          <a:p xmlns:a="http://schemas.openxmlformats.org/drawingml/2006/main">
            <a:pPr>
              <a:defRPr sz="3000" b="0">
                <a:solidFill>
                  <a:srgbClr val="BED3C4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BED3C4"/>
                </a:solidFill>
                <a:latin typeface="Arial"/>
                <a:ea typeface="Arial"/>
                <a:cs typeface="Arial"/>
              </a:rPr>
              <a:t>карточке происшествия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10AECABC-C8A1-4BAA-865E-99119D46E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0542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Демонстрация прототипа и проверяемого разбора</a:t>
            </a:r>
          </a:p>
        </p:txBody>
      </p:sp>
    </p:spTree>
    <p:extLst>
      <p:ext uri="{BB962C8B-B14F-4D97-AF65-F5344CB8AC3E}">
        <p14:creationId xmlns:p14="http://schemas.microsoft.com/office/powerpoint/2010/main" val="21237930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5">
            <a:extLst xmlns:a="http://schemas.openxmlformats.org/drawingml/2006/main">
              <a:ext uri="{FF2B5EF4-FFF2-40B4-BE49-F238E27FC236}">
                <a16:creationId xmlns:a16="http://schemas.microsoft.com/office/drawing/2014/main" id="{E90ECC2E-1EEB-4D61-B67F-0DB033E5F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0353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3538"/>
                </a:solidFill>
                <a:latin typeface="Arial"/>
                <a:ea typeface="Arial"/>
                <a:cs typeface="Arial"/>
              </a:rPr>
              <a:t>Учебная задача ДДС</a:t>
            </a:r>
          </a:p>
        </p:txBody>
      </p:sp>
      <p:sp>
        <p:nvSpPr>
          <p:cNvPr id="2" name="text-6">
            <a:extLst xmlns:a="http://schemas.openxmlformats.org/drawingml/2006/main">
              <a:ext uri="{FF2B5EF4-FFF2-40B4-BE49-F238E27FC236}">
                <a16:creationId xmlns:a16="http://schemas.microsoft.com/office/drawing/2014/main" id="{B5DB6E98-4DFD-41C3-9507-80E1CCADC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3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36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text-7">
            <a:extLst xmlns:a="http://schemas.openxmlformats.org/drawingml/2006/main">
              <a:ext uri="{FF2B5EF4-FFF2-40B4-BE49-F238E27FC236}">
                <a16:creationId xmlns:a16="http://schemas.microsoft.com/office/drawing/2014/main" id="{4A15A291-035E-4624-A660-25395A040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20353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03538"/>
                </a:solidFill>
                <a:latin typeface="Arial"/>
                <a:ea typeface="Arial"/>
                <a:cs typeface="Arial"/>
              </a:rPr>
              <a:t>Учащийся получает карточку и проходит</a:t>
            </a:r>
          </a:p>
          <a:p xmlns:a="http://schemas.openxmlformats.org/drawingml/2006/main">
            <a:pPr>
              <a:defRPr sz="2775" b="1">
                <a:solidFill>
                  <a:srgbClr val="20353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03538"/>
                </a:solidFill>
                <a:latin typeface="Arial"/>
                <a:ea typeface="Arial"/>
                <a:cs typeface="Arial"/>
              </a:rPr>
              <a:t>рабочий цикл до завершения</a:t>
            </a:r>
          </a:p>
        </p:txBody>
      </p:sp>
      <p:sp>
        <p:nvSpPr>
          <p:cNvPr id="4" name="text-8">
            <a:extLst xmlns:a="http://schemas.openxmlformats.org/drawingml/2006/main">
              <a:ext uri="{FF2B5EF4-FFF2-40B4-BE49-F238E27FC236}">
                <a16:creationId xmlns:a16="http://schemas.microsoft.com/office/drawing/2014/main" id="{8FC98A4D-D701-4337-8A73-3273ED59C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647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3D6E6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D6E6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text-9">
            <a:extLst xmlns:a="http://schemas.openxmlformats.org/drawingml/2006/main">
              <a:ext uri="{FF2B5EF4-FFF2-40B4-BE49-F238E27FC236}">
                <a16:creationId xmlns:a16="http://schemas.microsoft.com/office/drawing/2014/main" id="{325E1059-A1E8-416C-9D0C-A8931CA4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086100"/>
            <a:ext cx="3162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353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538"/>
                </a:solidFill>
                <a:latin typeface="Arial"/>
                <a:ea typeface="Arial"/>
                <a:cs typeface="Arial"/>
              </a:rPr>
              <a:t>Открыть карточку</a:t>
            </a:r>
          </a:p>
        </p:txBody>
      </p:sp>
      <p:sp>
        <p:nvSpPr>
          <p:cNvPr id="6" name="text-10">
            <a:extLst xmlns:a="http://schemas.openxmlformats.org/drawingml/2006/main">
              <a:ext uri="{FF2B5EF4-FFF2-40B4-BE49-F238E27FC236}">
                <a16:creationId xmlns:a16="http://schemas.microsoft.com/office/drawing/2014/main" id="{86913543-15EB-49F6-82D1-19DEE7AA2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086100"/>
            <a:ext cx="6381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173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1736D"/>
                </a:solidFill>
                <a:latin typeface="Arial"/>
                <a:ea typeface="Arial"/>
                <a:cs typeface="Arial"/>
              </a:rPr>
              <a:t>Проверить сведения и зафиксировать принятие</a:t>
            </a:r>
          </a:p>
        </p:txBody>
      </p:sp>
      <p:sp>
        <p:nvSpPr>
          <p:cNvPr id="7" name="text-11">
            <a:extLst xmlns:a="http://schemas.openxmlformats.org/drawingml/2006/main">
              <a:ext uri="{FF2B5EF4-FFF2-40B4-BE49-F238E27FC236}">
                <a16:creationId xmlns:a16="http://schemas.microsoft.com/office/drawing/2014/main" id="{5451C60B-8F23-4AEA-A61D-F564CE049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647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3D6E6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D6E6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text-12">
            <a:extLst xmlns:a="http://schemas.openxmlformats.org/drawingml/2006/main">
              <a:ext uri="{FF2B5EF4-FFF2-40B4-BE49-F238E27FC236}">
                <a16:creationId xmlns:a16="http://schemas.microsoft.com/office/drawing/2014/main" id="{A6691B20-D1C0-4E3C-B915-D43BF8210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981450"/>
            <a:ext cx="3162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353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538"/>
                </a:solidFill>
                <a:latin typeface="Arial"/>
                <a:ea typeface="Arial"/>
                <a:cs typeface="Arial"/>
              </a:rPr>
              <a:t>Доложить</a:t>
            </a:r>
          </a:p>
        </p:txBody>
      </p:sp>
      <p:sp>
        <p:nvSpPr>
          <p:cNvPr id="9" name="text-13">
            <a:extLst xmlns:a="http://schemas.openxmlformats.org/drawingml/2006/main">
              <a:ext uri="{FF2B5EF4-FFF2-40B4-BE49-F238E27FC236}">
                <a16:creationId xmlns:a16="http://schemas.microsoft.com/office/drawing/2014/main" id="{60343ECA-B8A1-4CD6-ADEF-0A6200839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981450"/>
            <a:ext cx="6381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173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1736D"/>
                </a:solidFill>
                <a:latin typeface="Arial"/>
                <a:ea typeface="Arial"/>
                <a:cs typeface="Arial"/>
              </a:rPr>
              <a:t>Связаться с учебным должностным лицом</a:t>
            </a:r>
          </a:p>
        </p:txBody>
      </p:sp>
      <p:sp>
        <p:nvSpPr>
          <p:cNvPr id="10" name="text-14">
            <a:extLst xmlns:a="http://schemas.openxmlformats.org/drawingml/2006/main">
              <a:ext uri="{FF2B5EF4-FFF2-40B4-BE49-F238E27FC236}">
                <a16:creationId xmlns:a16="http://schemas.microsoft.com/office/drawing/2014/main" id="{D6985BF6-4E50-425E-8AF6-EB96D404D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647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3D6E6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D6E6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text-15">
            <a:extLst xmlns:a="http://schemas.openxmlformats.org/drawingml/2006/main">
              <a:ext uri="{FF2B5EF4-FFF2-40B4-BE49-F238E27FC236}">
                <a16:creationId xmlns:a16="http://schemas.microsoft.com/office/drawing/2014/main" id="{7D73CB1C-3501-415B-B388-790DED3F9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876800"/>
            <a:ext cx="3162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353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538"/>
                </a:solidFill>
                <a:latin typeface="Arial"/>
                <a:ea typeface="Arial"/>
                <a:cs typeface="Arial"/>
              </a:rPr>
              <a:t>Завершить</a:t>
            </a:r>
          </a:p>
        </p:txBody>
      </p:sp>
      <p:sp>
        <p:nvSpPr>
          <p:cNvPr id="12" name="text-16">
            <a:extLst xmlns:a="http://schemas.openxmlformats.org/drawingml/2006/main">
              <a:ext uri="{FF2B5EF4-FFF2-40B4-BE49-F238E27FC236}">
                <a16:creationId xmlns:a16="http://schemas.microsoft.com/office/drawing/2014/main" id="{2A630752-A351-4933-9471-F2C64B15A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876800"/>
            <a:ext cx="6381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173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1736D"/>
                </a:solidFill>
                <a:latin typeface="Arial"/>
                <a:ea typeface="Arial"/>
                <a:cs typeface="Arial"/>
              </a:rPr>
              <a:t>Сохранить статусы, комментарий и итог</a:t>
            </a:r>
          </a:p>
        </p:txBody>
      </p:sp>
      <p:sp>
        <p:nvSpPr>
          <p:cNvPr id="13" name="text-17">
            <a:extLst xmlns:a="http://schemas.openxmlformats.org/drawingml/2006/main">
              <a:ext uri="{FF2B5EF4-FFF2-40B4-BE49-F238E27FC236}">
                <a16:creationId xmlns:a16="http://schemas.microsoft.com/office/drawing/2014/main" id="{1EEF61CC-CF16-4027-B8E0-E8CF5F8B8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173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1736D"/>
                </a:solidFill>
                <a:latin typeface="Arial"/>
                <a:ea typeface="Arial"/>
                <a:cs typeface="Arial"/>
              </a:rPr>
              <a:t>Основание: материалы заказчика и Q&amp;A. Учебные лимиты времени настраиваются преподавателем.</a:t>
            </a:r>
          </a:p>
        </p:txBody>
      </p:sp>
    </p:spTree>
    <p:extLst>
      <p:ext uri="{BB962C8B-B14F-4D97-AF65-F5344CB8AC3E}">
        <p14:creationId xmlns:p14="http://schemas.microsoft.com/office/powerpoint/2010/main" val="20877744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18">
            <a:extLst xmlns:a="http://schemas.openxmlformats.org/drawingml/2006/main">
              <a:ext uri="{FF2B5EF4-FFF2-40B4-BE49-F238E27FC236}">
                <a16:creationId xmlns:a16="http://schemas.microsoft.com/office/drawing/2014/main" id="{E23BB27C-A995-43E1-AE1D-8A3B66F8D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0353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3538"/>
                </a:solidFill>
                <a:latin typeface="Arial"/>
                <a:ea typeface="Arial"/>
                <a:cs typeface="Arial"/>
              </a:rPr>
              <a:t>Рынок и выбранный фокус</a:t>
            </a:r>
          </a:p>
        </p:txBody>
      </p:sp>
      <p:sp>
        <p:nvSpPr>
          <p:cNvPr id="2" name="text-19">
            <a:extLst xmlns:a="http://schemas.openxmlformats.org/drawingml/2006/main">
              <a:ext uri="{FF2B5EF4-FFF2-40B4-BE49-F238E27FC236}">
                <a16:creationId xmlns:a16="http://schemas.microsoft.com/office/drawing/2014/main" id="{6363FCB2-9D7F-42BF-8145-B34A61FDC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3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36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600200"/>
          <a:ext xmlns:a="http://schemas.openxmlformats.org/drawingml/2006/main" cx="10972800" cy="3371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3619500"/>
                <a:gridCol w="4210050"/>
              </a:tblGrid>
              <a:tr h="842963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Категория</a:t>
                      </a:r>
                    </a:p>
                  </a:txBody>
                  <a:tcPr marL="91440" marR="91440" marT="45720" marB="45720" anchor="ctr">
                    <a:solidFill>
                      <a:srgbClr val="203538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Примеры</a:t>
                      </a:r>
                    </a:p>
                  </a:txBody>
                  <a:tcPr marL="91440" marR="91440" marT="45720" marB="45720" anchor="ctr">
                    <a:solidFill>
                      <a:srgbClr val="203538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Вывод для продукта</a:t>
                      </a:r>
                    </a:p>
                  </a:txBody>
                  <a:tcPr marL="91440" marR="91440" marT="45720" marB="45720" anchor="ctr">
                    <a:solidFill>
                      <a:srgbClr val="203538"/>
                    </a:solidFill>
                  </a:tcPr>
                </a:tc>
              </a:tr>
              <a:tr h="842963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Учебные АРМ 112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Звенигород, Сибирская академия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Инфраструктура обучения уже существует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42963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CAD и телефонные симуляторы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9-1-1 Reality, Equature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Нужен полный рабочий цикл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42963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AI-тренажёры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Sklls, Eventide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Сценарии и рубрики есть на рынке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20">
            <a:extLst xmlns:a="http://schemas.openxmlformats.org/drawingml/2006/main">
              <a:ext uri="{FF2B5EF4-FFF2-40B4-BE49-F238E27FC236}">
                <a16:creationId xmlns:a16="http://schemas.microsoft.com/office/drawing/2014/main" id="{D267216A-F231-4C19-AABC-8912D49E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D6E6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6E61"/>
                </a:solidFill>
                <a:latin typeface="Arial"/>
                <a:ea typeface="Arial"/>
                <a:cs typeface="Arial"/>
              </a:rPr>
              <a:t>Специализация: рабочий цикл московской ДДС</a:t>
            </a:r>
          </a:p>
        </p:txBody>
      </p:sp>
      <p:sp>
        <p:nvSpPr>
          <p:cNvPr id="5" name="text-21">
            <a:extLst xmlns:a="http://schemas.openxmlformats.org/drawingml/2006/main">
              <a:ext uri="{FF2B5EF4-FFF2-40B4-BE49-F238E27FC236}">
                <a16:creationId xmlns:a16="http://schemas.microsoft.com/office/drawing/2014/main" id="{95F95043-330E-40D6-B927-4102C6883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173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1736D"/>
                </a:solidFill>
                <a:latin typeface="Arial"/>
                <a:ea typeface="Arial"/>
                <a:cs typeface="Arial"/>
              </a:rPr>
              <a:t>Поля АРМ, исходящий доклад и локальный разбор. Уникальность категории не заявляется.</a:t>
            </a:r>
          </a:p>
        </p:txBody>
      </p:sp>
    </p:spTree>
    <p:extLst>
      <p:ext uri="{BB962C8B-B14F-4D97-AF65-F5344CB8AC3E}">
        <p14:creationId xmlns:p14="http://schemas.microsoft.com/office/powerpoint/2010/main" val="724912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22">
            <a:extLst xmlns:a="http://schemas.openxmlformats.org/drawingml/2006/main">
              <a:ext uri="{FF2B5EF4-FFF2-40B4-BE49-F238E27FC236}">
                <a16:creationId xmlns:a16="http://schemas.microsoft.com/office/drawing/2014/main" id="{BCD8EE05-DAF9-4601-A44D-2B667F4A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0353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3538"/>
                </a:solidFill>
                <a:latin typeface="Arial"/>
                <a:ea typeface="Arial"/>
                <a:cs typeface="Arial"/>
              </a:rPr>
              <a:t>Рабочее место диспетчера</a:t>
            </a:r>
          </a:p>
        </p:txBody>
      </p:sp>
      <p:sp>
        <p:nvSpPr>
          <p:cNvPr id="2" name="text-23">
            <a:extLst xmlns:a="http://schemas.openxmlformats.org/drawingml/2006/main">
              <a:ext uri="{FF2B5EF4-FFF2-40B4-BE49-F238E27FC236}">
                <a16:creationId xmlns:a16="http://schemas.microsoft.com/office/drawing/2014/main" id="{18F5CB6C-2ECF-44CD-9F46-BE5353069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3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36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cf23f3edf94efd"/>
          <a:stretch xmlns:a="http://schemas.openxmlformats.org/drawingml/2006/main"/>
        </p:blipFill>
        <p:spPr>
          <a:xfrm xmlns:a="http://schemas.openxmlformats.org/drawingml/2006/main">
            <a:off x="1228725" y="1562100"/>
            <a:ext cx="6781800" cy="4238625"/>
          </a:xfrm>
          <a:prstGeom xmlns:a="http://schemas.openxmlformats.org/drawingml/2006/main" prst="rect">
            <a:avLst/>
          </a:prstGeom>
        </p:spPr>
      </p:pic>
      <p:sp>
        <p:nvSpPr>
          <p:cNvPr id="4" name="text-24">
            <a:extLst xmlns:a="http://schemas.openxmlformats.org/drawingml/2006/main">
              <a:ext uri="{FF2B5EF4-FFF2-40B4-BE49-F238E27FC236}">
                <a16:creationId xmlns:a16="http://schemas.microsoft.com/office/drawing/2014/main" id="{209C7C54-0BAF-47D2-9F65-31E9160FF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714500"/>
            <a:ext cx="26098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353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3538"/>
                </a:solidFill>
                <a:latin typeface="Arial"/>
                <a:ea typeface="Arial"/>
                <a:cs typeface="Arial"/>
              </a:rPr>
              <a:t>Готовая карточка</a:t>
            </a:r>
          </a:p>
        </p:txBody>
      </p:sp>
      <p:sp>
        <p:nvSpPr>
          <p:cNvPr id="5" name="text-25">
            <a:extLst xmlns:a="http://schemas.openxmlformats.org/drawingml/2006/main">
              <a:ext uri="{FF2B5EF4-FFF2-40B4-BE49-F238E27FC236}">
                <a16:creationId xmlns:a16="http://schemas.microsoft.com/office/drawing/2014/main" id="{D96613A1-4547-4B89-8309-00021C700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524125"/>
            <a:ext cx="26098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1736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1736D"/>
                </a:solidFill>
                <a:latin typeface="Arial"/>
                <a:ea typeface="Arial"/>
                <a:cs typeface="Arial"/>
              </a:rPr>
              <a:t>Поля и статусы по</a:t>
            </a:r>
          </a:p>
          <a:p xmlns:a="http://schemas.openxmlformats.org/drawingml/2006/main">
            <a:pPr>
              <a:defRPr sz="1725" b="0">
                <a:solidFill>
                  <a:srgbClr val="61736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1736D"/>
                </a:solidFill>
                <a:latin typeface="Arial"/>
                <a:ea typeface="Arial"/>
                <a:cs typeface="Arial"/>
              </a:rPr>
              <a:t>скриншотам заказчика.</a:t>
            </a:r>
          </a:p>
          <a:p xmlns:a="http://schemas.openxmlformats.org/drawingml/2006/main">
            <a:pPr>
              <a:defRPr sz="1725" b="0">
                <a:solidFill>
                  <a:srgbClr val="61736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1736D"/>
                </a:solidFill>
                <a:latin typeface="Arial"/>
                <a:ea typeface="Arial"/>
                <a:cs typeface="Arial"/>
              </a:rPr>
              <a:t>Методист ещё не проверял.</a:t>
            </a:r>
          </a:p>
        </p:txBody>
      </p:sp>
      <p:sp>
        <p:nvSpPr>
          <p:cNvPr id="6" name="text-26">
            <a:extLst xmlns:a="http://schemas.openxmlformats.org/drawingml/2006/main">
              <a:ext uri="{FF2B5EF4-FFF2-40B4-BE49-F238E27FC236}">
                <a16:creationId xmlns:a16="http://schemas.microsoft.com/office/drawing/2014/main" id="{B2C3E165-AE1B-4163-BC85-F806F8503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819525"/>
            <a:ext cx="2609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353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3538"/>
                </a:solidFill>
                <a:latin typeface="Arial"/>
                <a:ea typeface="Arial"/>
                <a:cs typeface="Arial"/>
              </a:rPr>
              <a:t>Учебный доклад</a:t>
            </a:r>
          </a:p>
        </p:txBody>
      </p:sp>
      <p:sp>
        <p:nvSpPr>
          <p:cNvPr id="7" name="text-27">
            <a:extLst xmlns:a="http://schemas.openxmlformats.org/drawingml/2006/main">
              <a:ext uri="{FF2B5EF4-FFF2-40B4-BE49-F238E27FC236}">
                <a16:creationId xmlns:a16="http://schemas.microsoft.com/office/drawing/2014/main" id="{B0CC211A-6207-48FC-AC8C-94FB014AE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572000"/>
            <a:ext cx="26098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173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1736D"/>
                </a:solidFill>
                <a:latin typeface="Arial"/>
                <a:ea typeface="Arial"/>
                <a:cs typeface="Arial"/>
              </a:rPr>
              <a:t>Номер контакта, реплика и ответ сохраняются в журнале</a:t>
            </a:r>
          </a:p>
        </p:txBody>
      </p:sp>
      <p:sp>
        <p:nvSpPr>
          <p:cNvPr id="8" name="text-28">
            <a:extLst xmlns:a="http://schemas.openxmlformats.org/drawingml/2006/main">
              <a:ext uri="{FF2B5EF4-FFF2-40B4-BE49-F238E27FC236}">
                <a16:creationId xmlns:a16="http://schemas.microsoft.com/office/drawing/2014/main" id="{547BECF7-8895-4856-B1B7-2C43F43F6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173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1736D"/>
                </a:solidFill>
                <a:latin typeface="Arial"/>
                <a:ea typeface="Arial"/>
                <a:cs typeface="Arial"/>
              </a:rPr>
              <a:t>Снимок прототипа. Учебные данные. Применимость к рабочему АРМ пока не проверена.</a:t>
            </a:r>
          </a:p>
        </p:txBody>
      </p:sp>
    </p:spTree>
    <p:extLst>
      <p:ext uri="{BB962C8B-B14F-4D97-AF65-F5344CB8AC3E}">
        <p14:creationId xmlns:p14="http://schemas.microsoft.com/office/powerpoint/2010/main" val="18439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29">
            <a:extLst xmlns:a="http://schemas.openxmlformats.org/drawingml/2006/main">
              <a:ext uri="{FF2B5EF4-FFF2-40B4-BE49-F238E27FC236}">
                <a16:creationId xmlns:a16="http://schemas.microsoft.com/office/drawing/2014/main" id="{B3C2D224-7B31-4AED-ADE6-F36E28B63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0353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3538"/>
                </a:solidFill>
                <a:latin typeface="Arial"/>
                <a:ea typeface="Arial"/>
                <a:cs typeface="Arial"/>
              </a:rPr>
              <a:t>Покритериальное решение преподавателя</a:t>
            </a:r>
          </a:p>
        </p:txBody>
      </p:sp>
      <p:sp>
        <p:nvSpPr>
          <p:cNvPr id="2" name="text-30">
            <a:extLst xmlns:a="http://schemas.openxmlformats.org/drawingml/2006/main">
              <a:ext uri="{FF2B5EF4-FFF2-40B4-BE49-F238E27FC236}">
                <a16:creationId xmlns:a16="http://schemas.microsoft.com/office/drawing/2014/main" id="{279CAEDA-B254-4F89-A75B-9D07E9DC6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3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36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600200"/>
          <a:ext xmlns:a="http://schemas.openxmlformats.org/drawingml/2006/main" cx="10972800" cy="3505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3714750"/>
                <a:gridCol w="4591050"/>
              </a:tblGrid>
              <a:tr h="87630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Этап</a:t>
                      </a:r>
                    </a:p>
                  </a:txBody>
                  <a:tcPr marL="91440" marR="91440" marT="45720" marB="45720" anchor="ctr">
                    <a:solidFill>
                      <a:srgbClr val="203538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Что остаётся в отчёте</a:t>
                      </a:r>
                    </a:p>
                  </a:txBody>
                  <a:tcPr marL="91440" marR="91440" marT="45720" marB="45720" anchor="ctr">
                    <a:solidFill>
                      <a:srgbClr val="203538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Что видит преподаватель</a:t>
                      </a:r>
                    </a:p>
                  </a:txBody>
                  <a:tcPr marL="91440" marR="91440" marT="45720" marB="45720" anchor="ctr">
                    <a:solidFill>
                      <a:srgbClr val="203538"/>
                    </a:solidFill>
                  </a:tcPr>
                </a:tc>
              </a:tr>
              <a:tr h="87630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Исходный вывод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Статус, балл, события и версия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Автоматическое основание замечания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7630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Решение по критерию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Отдельный исход и причина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Выполнено, не выполнено или проверить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7630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Общий итог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Подтверждённый балл с ревизией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После новой правки нужен повторный разбор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31">
            <a:extLst xmlns:a="http://schemas.openxmlformats.org/drawingml/2006/main">
              <a:ext uri="{FF2B5EF4-FFF2-40B4-BE49-F238E27FC236}">
                <a16:creationId xmlns:a16="http://schemas.microsoft.com/office/drawing/2014/main" id="{0F3C0FF6-2EB9-42E3-B87F-F3D1A593F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D6E6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6E61"/>
                </a:solidFill>
                <a:latin typeface="Arial"/>
                <a:ea typeface="Arial"/>
                <a:cs typeface="Arial"/>
              </a:rPr>
              <a:t>Учитель разрешает спорный факт без потери исходного вывода</a:t>
            </a:r>
          </a:p>
        </p:txBody>
      </p:sp>
      <p:sp>
        <p:nvSpPr>
          <p:cNvPr id="5" name="text-32">
            <a:extLst xmlns:a="http://schemas.openxmlformats.org/drawingml/2006/main">
              <a:ext uri="{FF2B5EF4-FFF2-40B4-BE49-F238E27FC236}">
                <a16:creationId xmlns:a16="http://schemas.microsoft.com/office/drawing/2014/main" id="{B5C3B991-D5E5-4675-B01D-786C5453E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173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1736D"/>
                </a:solidFill>
                <a:latin typeface="Arial"/>
                <a:ea typeface="Arial"/>
                <a:cs typeface="Arial"/>
              </a:rPr>
              <a:t>Код RC2 есть; экономия времени и удобство для преподавателей ещё не измерены.</a:t>
            </a:r>
          </a:p>
        </p:txBody>
      </p:sp>
    </p:spTree>
    <p:extLst>
      <p:ext uri="{BB962C8B-B14F-4D97-AF65-F5344CB8AC3E}">
        <p14:creationId xmlns:p14="http://schemas.microsoft.com/office/powerpoint/2010/main" val="5236936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33">
            <a:extLst xmlns:a="http://schemas.openxmlformats.org/drawingml/2006/main">
              <a:ext uri="{FF2B5EF4-FFF2-40B4-BE49-F238E27FC236}">
                <a16:creationId xmlns:a16="http://schemas.microsoft.com/office/drawing/2014/main" id="{BF794EB1-805F-468F-A668-2702F4B45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0353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3538"/>
                </a:solidFill>
                <a:latin typeface="Arial"/>
                <a:ea typeface="Arial"/>
                <a:cs typeface="Arial"/>
              </a:rPr>
              <a:t>Локальная работа и границы AI</a:t>
            </a:r>
          </a:p>
        </p:txBody>
      </p:sp>
      <p:sp>
        <p:nvSpPr>
          <p:cNvPr id="2" name="text-34">
            <a:extLst xmlns:a="http://schemas.openxmlformats.org/drawingml/2006/main">
              <a:ext uri="{FF2B5EF4-FFF2-40B4-BE49-F238E27FC236}">
                <a16:creationId xmlns:a16="http://schemas.microsoft.com/office/drawing/2014/main" id="{3713A521-512D-4692-A0F3-E90308385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3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36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600200"/>
          <a:ext xmlns:a="http://schemas.openxmlformats.org/drawingml/2006/main" cx="10972800" cy="3371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3619500"/>
                <a:gridCol w="4210050"/>
              </a:tblGrid>
              <a:tr h="842963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Компонент</a:t>
                      </a:r>
                    </a:p>
                  </a:txBody>
                  <a:tcPr marL="91440" marR="91440" marT="45720" marB="45720" anchor="ctr">
                    <a:solidFill>
                      <a:srgbClr val="203538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Учебная функция</a:t>
                      </a:r>
                    </a:p>
                  </a:txBody>
                  <a:tcPr marL="91440" marR="91440" marT="45720" marB="45720" anchor="ctr">
                    <a:solidFill>
                      <a:srgbClr val="203538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Кто подтверждает результат</a:t>
                      </a:r>
                    </a:p>
                  </a:txBody>
                  <a:tcPr marL="91440" marR="91440" marT="45720" marB="45720" anchor="ctr">
                    <a:solidFill>
                      <a:srgbClr val="203538"/>
                    </a:solidFill>
                  </a:tcPr>
                </a:tc>
              </a:tr>
              <a:tr h="842963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React + FastAPI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Карточка, журнал и разбор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Преподаватель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42963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Whisper small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Черновик доклада из записи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Учащийся перед отправкой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42963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Qwen3-1.7B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Черновик сценария, узкий совет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Преподаватель проверяет факты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35">
            <a:extLst xmlns:a="http://schemas.openxmlformats.org/drawingml/2006/main">
              <a:ext uri="{FF2B5EF4-FFF2-40B4-BE49-F238E27FC236}">
                <a16:creationId xmlns:a16="http://schemas.microsoft.com/office/drawing/2014/main" id="{F2201048-3B61-4FF6-A828-7ED6C09EB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054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3D6E6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D6E61"/>
                </a:solidFill>
                <a:latin typeface="Arial"/>
                <a:ea typeface="Arial"/>
                <a:cs typeface="Arial"/>
              </a:rPr>
              <a:t>Баллы задают правила и решение преподавателя</a:t>
            </a:r>
          </a:p>
        </p:txBody>
      </p:sp>
      <p:sp>
        <p:nvSpPr>
          <p:cNvPr id="5" name="text-36">
            <a:extLst xmlns:a="http://schemas.openxmlformats.org/drawingml/2006/main">
              <a:ext uri="{FF2B5EF4-FFF2-40B4-BE49-F238E27FC236}">
                <a16:creationId xmlns:a16="http://schemas.microsoft.com/office/drawing/2014/main" id="{DA05B598-4A5B-4D68-A262-824015038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173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1736D"/>
                </a:solidFill>
                <a:latin typeface="Arial"/>
                <a:ea typeface="Arial"/>
                <a:cs typeface="Arial"/>
              </a:rPr>
              <a:t>Полный текстовый цикл работает локально без моделей. Голосовые сервисы опциональны.</a:t>
            </a:r>
          </a:p>
        </p:txBody>
      </p:sp>
    </p:spTree>
    <p:extLst>
      <p:ext uri="{BB962C8B-B14F-4D97-AF65-F5344CB8AC3E}">
        <p14:creationId xmlns:p14="http://schemas.microsoft.com/office/powerpoint/2010/main" val="10222928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37">
            <a:extLst xmlns:a="http://schemas.openxmlformats.org/drawingml/2006/main">
              <a:ext uri="{FF2B5EF4-FFF2-40B4-BE49-F238E27FC236}">
                <a16:creationId xmlns:a16="http://schemas.microsoft.com/office/drawing/2014/main" id="{CBBB1A7A-6B5F-4967-BB48-890600BA7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0353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3538"/>
                </a:solidFill>
                <a:latin typeface="Arial"/>
                <a:ea typeface="Arial"/>
                <a:cs typeface="Arial"/>
              </a:rPr>
              <a:t>Модель 4B не прошла заданный порог</a:t>
            </a:r>
          </a:p>
        </p:txBody>
      </p:sp>
      <p:sp>
        <p:nvSpPr>
          <p:cNvPr id="2" name="text-38">
            <a:extLst xmlns:a="http://schemas.openxmlformats.org/drawingml/2006/main">
              <a:ext uri="{FF2B5EF4-FFF2-40B4-BE49-F238E27FC236}">
                <a16:creationId xmlns:a16="http://schemas.microsoft.com/office/drawing/2014/main" id="{1F248C75-2F2B-4BD6-A91D-652A90B0E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3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36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600200"/>
          <a:ext xmlns:a="http://schemas.openxmlformats.org/drawingml/2006/main" cx="10972800" cy="3505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34000"/>
                <a:gridCol w="2819400"/>
                <a:gridCol w="2819400"/>
              </a:tblGrid>
              <a:tr h="70104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На 48 синтетических случаях</a:t>
                      </a:r>
                    </a:p>
                  </a:txBody>
                  <a:tcPr marL="91440" marR="91440" marT="45720" marB="45720" anchor="ctr">
                    <a:solidFill>
                      <a:srgbClr val="203538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Qwen3-1.7B</a:t>
                      </a:r>
                    </a:p>
                  </a:txBody>
                  <a:tcPr marL="91440" marR="91440" marT="45720" marB="45720" anchor="ctr">
                    <a:solidFill>
                      <a:srgbClr val="203538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Qwen3-4B</a:t>
                      </a:r>
                    </a:p>
                  </a:txBody>
                  <a:tcPr marL="91440" marR="91440" marT="45720" marB="45720" anchor="ctr">
                    <a:solidFill>
                      <a:srgbClr val="203538"/>
                    </a:solidFill>
                  </a:tcPr>
                </a:tc>
              </a:tr>
              <a:tr h="70104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Верный ответ и допустимая схема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22 / 48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32 / 48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Ложное подтверждение критерия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Допустимая схема ответа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48 / 48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39 / 48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Время ответа p95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3,22 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7,28 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39">
            <a:extLst xmlns:a="http://schemas.openxmlformats.org/drawingml/2006/main">
              <a:ext uri="{FF2B5EF4-FFF2-40B4-BE49-F238E27FC236}">
                <a16:creationId xmlns:a16="http://schemas.microsoft.com/office/drawing/2014/main" id="{842CD68E-81A3-446D-A8A2-A8A453DC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D6E6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6E61"/>
                </a:solidFill>
                <a:latin typeface="Arial"/>
                <a:ea typeface="Arial"/>
                <a:cs typeface="Arial"/>
              </a:rPr>
              <a:t>Требовались 44/48 и ноль ложных подтверждений</a:t>
            </a:r>
          </a:p>
        </p:txBody>
      </p:sp>
      <p:sp>
        <p:nvSpPr>
          <p:cNvPr id="5" name="text-40">
            <a:extLst xmlns:a="http://schemas.openxmlformats.org/drawingml/2006/main">
              <a:ext uri="{FF2B5EF4-FFF2-40B4-BE49-F238E27FC236}">
                <a16:creationId xmlns:a16="http://schemas.microsoft.com/office/drawing/2014/main" id="{E5F39C37-22C1-4ADF-880D-B8FFA7351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173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1736D"/>
                </a:solidFill>
                <a:latin typeface="Arial"/>
                <a:ea typeface="Arial"/>
                <a:cs typeface="Arial"/>
              </a:rPr>
              <a:t>Простая замена модели не решает проверку адресов, ролей и причинной последовательности.</a:t>
            </a:r>
          </a:p>
        </p:txBody>
      </p:sp>
    </p:spTree>
    <p:extLst>
      <p:ext uri="{BB962C8B-B14F-4D97-AF65-F5344CB8AC3E}">
        <p14:creationId xmlns:p14="http://schemas.microsoft.com/office/powerpoint/2010/main" val="17730379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41">
            <a:extLst xmlns:a="http://schemas.openxmlformats.org/drawingml/2006/main">
              <a:ext uri="{FF2B5EF4-FFF2-40B4-BE49-F238E27FC236}">
                <a16:creationId xmlns:a16="http://schemas.microsoft.com/office/drawing/2014/main" id="{70C20900-405D-4AD4-B36F-30EE0BC4D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0353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3538"/>
                </a:solidFill>
                <a:latin typeface="Arial"/>
                <a:ea typeface="Arial"/>
                <a:cs typeface="Arial"/>
              </a:rPr>
              <a:t>Что измерено в прототипе</a:t>
            </a:r>
          </a:p>
        </p:txBody>
      </p:sp>
      <p:sp>
        <p:nvSpPr>
          <p:cNvPr id="2" name="text-42">
            <a:extLst xmlns:a="http://schemas.openxmlformats.org/drawingml/2006/main">
              <a:ext uri="{FF2B5EF4-FFF2-40B4-BE49-F238E27FC236}">
                <a16:creationId xmlns:a16="http://schemas.microsoft.com/office/drawing/2014/main" id="{0D23B7CD-22A0-410D-8EFE-3E233D77B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3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36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600200"/>
          <a:ext xmlns:a="http://schemas.openxmlformats.org/drawingml/2006/main" cx="10972800" cy="3352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3143250"/>
                <a:gridCol w="4114800"/>
              </a:tblGrid>
              <a:tr h="83820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Проверка RC1</a:t>
                      </a:r>
                    </a:p>
                  </a:txBody>
                  <a:tcPr marL="91440" marR="91440" marT="45720" marB="45720" anchor="ctr">
                    <a:solidFill>
                      <a:srgbClr val="203538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Измерение</a:t>
                      </a:r>
                    </a:p>
                  </a:txBody>
                  <a:tcPr marL="91440" marR="91440" marT="45720" marB="45720" anchor="ctr">
                    <a:solidFill>
                      <a:srgbClr val="203538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Граница вывода</a:t>
                      </a:r>
                    </a:p>
                  </a:txBody>
                  <a:tcPr marL="91440" marR="91440" marT="45720" marB="45720" anchor="ctr">
                    <a:solidFill>
                      <a:srgbClr val="203538"/>
                    </a:solidFill>
                  </a:tcPr>
                </a:tc>
              </a:tr>
              <a:tr h="83820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API: 100 пользователей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p95 417 мс; 0 ошибок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Короткая серия запросов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20 активных попыток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200/200 событий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Все события этого прогона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Синтетический набор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27/28 точных совпадений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20 из 48 не поддержаны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43">
            <a:extLst xmlns:a="http://schemas.openxmlformats.org/drawingml/2006/main">
              <a:ext uri="{FF2B5EF4-FFF2-40B4-BE49-F238E27FC236}">
                <a16:creationId xmlns:a16="http://schemas.microsoft.com/office/drawing/2014/main" id="{11BE0BE2-6997-482C-B6FA-487FB461F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D6E6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6E61"/>
                </a:solidFill>
                <a:latin typeface="Arial"/>
                <a:ea typeface="Arial"/>
                <a:cs typeface="Arial"/>
              </a:rPr>
              <a:t>Технические замеры не показывают эффект обучения</a:t>
            </a:r>
          </a:p>
        </p:txBody>
      </p:sp>
      <p:sp>
        <p:nvSpPr>
          <p:cNvPr id="5" name="text-44">
            <a:extLst xmlns:a="http://schemas.openxmlformats.org/drawingml/2006/main">
              <a:ext uri="{FF2B5EF4-FFF2-40B4-BE49-F238E27FC236}">
                <a16:creationId xmlns:a16="http://schemas.microsoft.com/office/drawing/2014/main" id="{00825816-B08A-42CD-8839-12796C312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173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1736D"/>
                </a:solidFill>
                <a:latin typeface="Arial"/>
                <a:ea typeface="Arial"/>
                <a:cs typeface="Arial"/>
              </a:rPr>
              <a:t>Нужны целевой класс и экспертные данные. Проверки RC2 фиксируются отдельно от RC1.</a:t>
            </a:r>
          </a:p>
        </p:txBody>
      </p:sp>
    </p:spTree>
    <p:extLst>
      <p:ext uri="{BB962C8B-B14F-4D97-AF65-F5344CB8AC3E}">
        <p14:creationId xmlns:p14="http://schemas.microsoft.com/office/powerpoint/2010/main" val="14893184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45">
            <a:extLst xmlns:a="http://schemas.openxmlformats.org/drawingml/2006/main">
              <a:ext uri="{FF2B5EF4-FFF2-40B4-BE49-F238E27FC236}">
                <a16:creationId xmlns:a16="http://schemas.microsoft.com/office/drawing/2014/main" id="{25C92FDB-0288-419A-B85D-6500BEB9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0353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3538"/>
                </a:solidFill>
                <a:latin typeface="Arial"/>
                <a:ea typeface="Arial"/>
                <a:cs typeface="Arial"/>
              </a:rPr>
              <a:t>Методистский пилот: протокол готов</a:t>
            </a:r>
          </a:p>
        </p:txBody>
      </p:sp>
      <p:sp>
        <p:nvSpPr>
          <p:cNvPr id="2" name="text-46">
            <a:extLst xmlns:a="http://schemas.openxmlformats.org/drawingml/2006/main">
              <a:ext uri="{FF2B5EF4-FFF2-40B4-BE49-F238E27FC236}">
                <a16:creationId xmlns:a16="http://schemas.microsoft.com/office/drawing/2014/main" id="{73F56DFB-9295-452B-AD4F-31E3811D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3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36D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text-47">
            <a:extLst xmlns:a="http://schemas.openxmlformats.org/drawingml/2006/main">
              <a:ext uri="{FF2B5EF4-FFF2-40B4-BE49-F238E27FC236}">
                <a16:creationId xmlns:a16="http://schemas.microsoft.com/office/drawing/2014/main" id="{3A2F1DAB-CEE2-4E06-9CB4-8C19DA338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342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353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538"/>
                </a:solidFill>
                <a:latin typeface="Arial"/>
                <a:ea typeface="Arial"/>
                <a:cs typeface="Arial"/>
              </a:rPr>
              <a:t>Преподаватели</a:t>
            </a:r>
          </a:p>
        </p:txBody>
      </p:sp>
      <p:sp>
        <p:nvSpPr>
          <p:cNvPr id="4" name="text-48">
            <a:extLst xmlns:a="http://schemas.openxmlformats.org/drawingml/2006/main">
              <a:ext uri="{FF2B5EF4-FFF2-40B4-BE49-F238E27FC236}">
                <a16:creationId xmlns:a16="http://schemas.microsoft.com/office/drawing/2014/main" id="{FDA42A21-6730-4129-9C1C-C2A942B9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09725"/>
            <a:ext cx="695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1736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1736D"/>
                </a:solidFill>
                <a:latin typeface="Arial"/>
                <a:ea typeface="Arial"/>
                <a:cs typeface="Arial"/>
              </a:rPr>
              <a:t>Два человека проверяют случаи вручную и в продукте</a:t>
            </a:r>
          </a:p>
        </p:txBody>
      </p:sp>
      <p:sp>
        <p:nvSpPr>
          <p:cNvPr id="5" name="text-49">
            <a:extLst xmlns:a="http://schemas.openxmlformats.org/drawingml/2006/main">
              <a:ext uri="{FF2B5EF4-FFF2-40B4-BE49-F238E27FC236}">
                <a16:creationId xmlns:a16="http://schemas.microsoft.com/office/drawing/2014/main" id="{66857AB4-CD32-49A1-8D31-38C05432D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342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353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538"/>
                </a:solidFill>
                <a:latin typeface="Arial"/>
                <a:ea typeface="Arial"/>
                <a:cs typeface="Arial"/>
              </a:rPr>
              <a:t>Учащиеся</a:t>
            </a:r>
          </a:p>
        </p:txBody>
      </p:sp>
      <p:sp>
        <p:nvSpPr>
          <p:cNvPr id="6" name="text-50">
            <a:extLst xmlns:a="http://schemas.openxmlformats.org/drawingml/2006/main">
              <a:ext uri="{FF2B5EF4-FFF2-40B4-BE49-F238E27FC236}">
                <a16:creationId xmlns:a16="http://schemas.microsoft.com/office/drawing/2014/main" id="{DD5C81D7-51AA-419A-8A3D-637818081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71750"/>
            <a:ext cx="695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1736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1736D"/>
                </a:solidFill>
                <a:latin typeface="Arial"/>
                <a:ea typeface="Arial"/>
                <a:cs typeface="Arial"/>
              </a:rPr>
              <a:t>6–8 человек выполняют исходное и новое задание</a:t>
            </a:r>
          </a:p>
        </p:txBody>
      </p:sp>
      <p:sp>
        <p:nvSpPr>
          <p:cNvPr id="7" name="text-51">
            <a:extLst xmlns:a="http://schemas.openxmlformats.org/drawingml/2006/main">
              <a:ext uri="{FF2B5EF4-FFF2-40B4-BE49-F238E27FC236}">
                <a16:creationId xmlns:a16="http://schemas.microsoft.com/office/drawing/2014/main" id="{D7B8DCF1-1D75-4200-9F57-4333B2DCF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342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353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538"/>
                </a:solidFill>
                <a:latin typeface="Arial"/>
                <a:ea typeface="Arial"/>
                <a:cs typeface="Arial"/>
              </a:rPr>
              <a:t>Эталон</a:t>
            </a:r>
          </a:p>
        </p:txBody>
      </p:sp>
      <p:sp>
        <p:nvSpPr>
          <p:cNvPr id="8" name="text-52">
            <a:extLst xmlns:a="http://schemas.openxmlformats.org/drawingml/2006/main">
              <a:ext uri="{FF2B5EF4-FFF2-40B4-BE49-F238E27FC236}">
                <a16:creationId xmlns:a16="http://schemas.microsoft.com/office/drawing/2014/main" id="{58292E1F-AA0E-4D4B-A290-466A36E6D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33775"/>
            <a:ext cx="695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1736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1736D"/>
                </a:solidFill>
                <a:latin typeface="Arial"/>
                <a:ea typeface="Arial"/>
                <a:cs typeface="Arial"/>
              </a:rPr>
              <a:t>Раздельные экспертные решения по каждому критерию</a:t>
            </a:r>
          </a:p>
        </p:txBody>
      </p:sp>
      <p:sp>
        <p:nvSpPr>
          <p:cNvPr id="9" name="text-53">
            <a:extLst xmlns:a="http://schemas.openxmlformats.org/drawingml/2006/main">
              <a:ext uri="{FF2B5EF4-FFF2-40B4-BE49-F238E27FC236}">
                <a16:creationId xmlns:a16="http://schemas.microsoft.com/office/drawing/2014/main" id="{9FDD36F2-7F53-46FE-93EC-B8D68A21B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342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353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538"/>
                </a:solidFill>
                <a:latin typeface="Arial"/>
                <a:ea typeface="Arial"/>
                <a:cs typeface="Arial"/>
              </a:rPr>
              <a:t>Время</a:t>
            </a:r>
          </a:p>
        </p:txBody>
      </p:sp>
      <p:sp>
        <p:nvSpPr>
          <p:cNvPr id="10" name="text-54">
            <a:extLst xmlns:a="http://schemas.openxmlformats.org/drawingml/2006/main">
              <a:ext uri="{FF2B5EF4-FFF2-40B4-BE49-F238E27FC236}">
                <a16:creationId xmlns:a16="http://schemas.microsoft.com/office/drawing/2014/main" id="{4F13815A-B7A2-4F3B-9814-B0146A5D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95800"/>
            <a:ext cx="695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1736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1736D"/>
                </a:solidFill>
                <a:latin typeface="Arial"/>
                <a:ea typeface="Arial"/>
                <a:cs typeface="Arial"/>
              </a:rPr>
              <a:t>В обоих условиях замерим подготовку, проверку и исправления</a:t>
            </a:r>
          </a:p>
        </p:txBody>
      </p:sp>
      <p:sp>
        <p:nvSpPr>
          <p:cNvPr id="11" name="text-55">
            <a:extLst xmlns:a="http://schemas.openxmlformats.org/drawingml/2006/main">
              <a:ext uri="{FF2B5EF4-FFF2-40B4-BE49-F238E27FC236}">
                <a16:creationId xmlns:a16="http://schemas.microsoft.com/office/drawing/2014/main" id="{88E30996-10D5-4451-948C-4EBA2F311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173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1736D"/>
                </a:solidFill>
                <a:latin typeface="Arial"/>
                <a:ea typeface="Arial"/>
                <a:cs typeface="Arial"/>
              </a:rPr>
              <a:t>Исследование ещё не проводилось. Порог экономии 20% задан заранее как гипотеза.</a:t>
            </a:r>
          </a:p>
        </p:txBody>
      </p:sp>
    </p:spTree>
    <p:extLst>
      <p:ext uri="{BB962C8B-B14F-4D97-AF65-F5344CB8AC3E}">
        <p14:creationId xmlns:p14="http://schemas.microsoft.com/office/powerpoint/2010/main" val="84676838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2035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56">
            <a:extLst xmlns:a="http://schemas.openxmlformats.org/drawingml/2006/main">
              <a:ext uri="{FF2B5EF4-FFF2-40B4-BE49-F238E27FC236}">
                <a16:creationId xmlns:a16="http://schemas.microsoft.com/office/drawing/2014/main" id="{40B48048-0573-4DFB-B7DF-763A7AED7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Следующий этап: учебный пилот</a:t>
            </a:r>
          </a:p>
        </p:txBody>
      </p:sp>
      <p:sp>
        <p:nvSpPr>
          <p:cNvPr id="2" name="text-57">
            <a:extLst xmlns:a="http://schemas.openxmlformats.org/drawingml/2006/main">
              <a:ext uri="{FF2B5EF4-FFF2-40B4-BE49-F238E27FC236}">
                <a16:creationId xmlns:a16="http://schemas.microsoft.com/office/drawing/2014/main" id="{F1119F25-8993-4004-9384-0811A9DA7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ED3C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ED3C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text-58">
            <a:extLst xmlns:a="http://schemas.openxmlformats.org/drawingml/2006/main">
              <a:ext uri="{FF2B5EF4-FFF2-40B4-BE49-F238E27FC236}">
                <a16:creationId xmlns:a16="http://schemas.microsoft.com/office/drawing/2014/main" id="{FA22098A-F1B3-4137-AA10-EDFB4249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76325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Измерить цену корректного разбора</a:t>
            </a:r>
          </a:p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для преподавателя</a:t>
            </a:r>
          </a:p>
        </p:txBody>
      </p:sp>
      <p:sp>
        <p:nvSpPr>
          <p:cNvPr id="4" name="text-59">
            <a:extLst xmlns:a="http://schemas.openxmlformats.org/drawingml/2006/main">
              <a:ext uri="{FF2B5EF4-FFF2-40B4-BE49-F238E27FC236}">
                <a16:creationId xmlns:a16="http://schemas.microsoft.com/office/drawing/2014/main" id="{2217ECFF-2BE2-4103-A4FF-37B7DA5F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62325"/>
            <a:ext cx="363855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0" b="1">
                <a:solidFill>
                  <a:srgbClr val="BED3C4"/>
                </a:solidFill>
                <a:latin typeface="Arial"/>
                <a:ea typeface="Arial"/>
                <a:cs typeface="Arial"/>
              </a:defRPr>
            </a:pPr>
            <a:r>
              <a:rPr sz="7500" b="1">
                <a:solidFill>
                  <a:srgbClr val="BED3C4"/>
                </a:solidFill>
                <a:latin typeface="Arial"/>
                <a:ea typeface="Arial"/>
                <a:cs typeface="Arial"/>
              </a:rPr>
              <a:t>20%</a:t>
            </a:r>
          </a:p>
        </p:txBody>
      </p:sp>
      <p:sp>
        <p:nvSpPr>
          <p:cNvPr id="5" name="text-60">
            <a:extLst xmlns:a="http://schemas.openxmlformats.org/drawingml/2006/main">
              <a:ext uri="{FF2B5EF4-FFF2-40B4-BE49-F238E27FC236}">
                <a16:creationId xmlns:a16="http://schemas.microsoft.com/office/drawing/2014/main" id="{C86E5FD8-573C-4E82-9E9D-7480BC6F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629025"/>
            <a:ext cx="6477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целевой ориентир пилота,</a:t>
            </a:r>
          </a:p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пока без результата</a:t>
            </a:r>
          </a:p>
        </p:txBody>
      </p:sp>
      <p:sp>
        <p:nvSpPr>
          <p:cNvPr id="6" name="text-61">
            <a:extLst xmlns:a="http://schemas.openxmlformats.org/drawingml/2006/main">
              <a:ext uri="{FF2B5EF4-FFF2-40B4-BE49-F238E27FC236}">
                <a16:creationId xmlns:a16="http://schemas.microsoft.com/office/drawing/2014/main" id="{BB47EE96-0BE0-4BD8-8599-2955D0B84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7156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BED3C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ED3C4"/>
                </a:solidFill>
                <a:latin typeface="Arial"/>
                <a:ea typeface="Arial"/>
                <a:cs typeface="Arial"/>
              </a:rPr>
              <a:t>Сначала согласовать рубрику и провести занятие на целевых ПК</a:t>
            </a:r>
          </a:p>
        </p:txBody>
      </p:sp>
    </p:spTree>
    <p:extLst>
      <p:ext uri="{BB962C8B-B14F-4D97-AF65-F5344CB8AC3E}">
        <p14:creationId xmlns:p14="http://schemas.microsoft.com/office/powerpoint/2010/main" val="5002283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2026-09-26T00:57:44.5160000Z</dcterms:created>
  <dcterms:modified xsi:type="dcterms:W3CDTF">2026-09-26T00:57:44.5160000Z</dcterms:modified>
</coreProperties>
</file>