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fc6601b2454e8c" /><Relationship Type="http://schemas.openxmlformats.org/officeDocument/2006/relationships/extended-properties" Target="/docProps/app.xml" Id="R1db9a360c4da4cc2" /><Relationship Type="http://schemas.openxmlformats.org/officeDocument/2006/relationships/officeDocument" Target="/ppt/presentation.xml" Id="R568160a13c59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173331a574eaf"/>
  </p:sldMasterIdLst>
  <p:notesMasterIdLst>
    <p:notesMasterId xmlns:r="http://schemas.openxmlformats.org/officeDocument/2006/relationships" r:id="R42a0ecdde56f4f6b"/>
  </p:notesMasterIdLst>
  <p:sldIdLst>
    <p:sldId xmlns:r="http://schemas.openxmlformats.org/officeDocument/2006/relationships" id="256" r:id="Ra194fb4b6bff42b1"/>
    <p:sldId xmlns:r="http://schemas.openxmlformats.org/officeDocument/2006/relationships" id="257" r:id="R3c719125701745a7"/>
    <p:sldId xmlns:r="http://schemas.openxmlformats.org/officeDocument/2006/relationships" id="258" r:id="Rac298c4c002948bf"/>
    <p:sldId xmlns:r="http://schemas.openxmlformats.org/officeDocument/2006/relationships" id="259" r:id="R9cf6362ada1a4b91"/>
    <p:sldId xmlns:r="http://schemas.openxmlformats.org/officeDocument/2006/relationships" id="260" r:id="R63506bde87674b31"/>
    <p:sldId xmlns:r="http://schemas.openxmlformats.org/officeDocument/2006/relationships" id="261" r:id="R7ddd868978164d45"/>
    <p:sldId xmlns:r="http://schemas.openxmlformats.org/officeDocument/2006/relationships" id="262" r:id="R917d48dbfe45403b"/>
    <p:sldId xmlns:r="http://schemas.openxmlformats.org/officeDocument/2006/relationships" id="263" r:id="Rcdb26450ed8c4018"/>
    <p:sldId xmlns:r="http://schemas.openxmlformats.org/officeDocument/2006/relationships" id="264" r:id="R050bdaf9557940cd"/>
    <p:sldId xmlns:r="http://schemas.openxmlformats.org/officeDocument/2006/relationships" id="265" r:id="R9ef16ab30530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2b96a835d4b58" /><Relationship Type="http://schemas.openxmlformats.org/officeDocument/2006/relationships/slideMaster" Target="/ppt/slideMasters/slideMaster1.xml" Id="R50e173331a574eaf" /><Relationship Type="http://schemas.openxmlformats.org/officeDocument/2006/relationships/notesMaster" Target="/ppt/notesMasters/notesMaster1.xml" Id="R42a0ecdde56f4f6b" /><Relationship Type="http://schemas.openxmlformats.org/officeDocument/2006/relationships/presProps" Target="/ppt/presProps.xml" Id="R47f1df1249124a93" /><Relationship Type="http://schemas.openxmlformats.org/officeDocument/2006/relationships/tableStyles" Target="/ppt/tableStyles.xml" Id="R635000279de542e7" /><Relationship Type="http://schemas.openxmlformats.org/officeDocument/2006/relationships/slide" Target="/ppt/slides/slide1.xml" Id="Ra194fb4b6bff42b1" /><Relationship Type="http://schemas.openxmlformats.org/officeDocument/2006/relationships/slide" Target="/ppt/slides/slide2.xml" Id="R3c719125701745a7" /><Relationship Type="http://schemas.openxmlformats.org/officeDocument/2006/relationships/slide" Target="/ppt/slides/slide3.xml" Id="Rac298c4c002948bf" /><Relationship Type="http://schemas.openxmlformats.org/officeDocument/2006/relationships/slide" Target="/ppt/slides/slide4.xml" Id="R9cf6362ada1a4b91" /><Relationship Type="http://schemas.openxmlformats.org/officeDocument/2006/relationships/slide" Target="/ppt/slides/slide5.xml" Id="R63506bde87674b31" /><Relationship Type="http://schemas.openxmlformats.org/officeDocument/2006/relationships/slide" Target="/ppt/slides/slide6.xml" Id="R7ddd868978164d45" /><Relationship Type="http://schemas.openxmlformats.org/officeDocument/2006/relationships/slide" Target="/ppt/slides/slide7.xml" Id="R917d48dbfe45403b" /><Relationship Type="http://schemas.openxmlformats.org/officeDocument/2006/relationships/slide" Target="/ppt/slides/slide8.xml" Id="Rcdb26450ed8c4018" /><Relationship Type="http://schemas.openxmlformats.org/officeDocument/2006/relationships/slide" Target="/ppt/slides/slide9.xml" Id="R050bdaf9557940cd" /><Relationship Type="http://schemas.openxmlformats.org/officeDocument/2006/relationships/slide" Target="/ppt/slides/slide10.xml" Id="R9ef16ab30530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471add2db246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22f415b734e9f" /><Relationship Type="http://schemas.openxmlformats.org/officeDocument/2006/relationships/notesMaster" Target="/ppt/notesMasters/notesMaster1.xml" Id="Ra08a3d01c45347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da066f4f944a40" /><Relationship Type="http://schemas.openxmlformats.org/officeDocument/2006/relationships/notesMaster" Target="/ppt/notesMasters/notesMaster1.xml" Id="R72a33c39f83c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fac28212194fda" /><Relationship Type="http://schemas.openxmlformats.org/officeDocument/2006/relationships/notesMaster" Target="/ppt/notesMasters/notesMaster1.xml" Id="R6b82d2fe8c1445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0f7d471fab45e0" /><Relationship Type="http://schemas.openxmlformats.org/officeDocument/2006/relationships/notesMaster" Target="/ppt/notesMasters/notesMaster1.xml" Id="Rfc2ec940f64d4d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a18978d9884c13" /><Relationship Type="http://schemas.openxmlformats.org/officeDocument/2006/relationships/notesMaster" Target="/ppt/notesMasters/notesMaster1.xml" Id="R222218d0c3d044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54182b45c46d3" /><Relationship Type="http://schemas.openxmlformats.org/officeDocument/2006/relationships/notesMaster" Target="/ppt/notesMasters/notesMaster1.xml" Id="Rf2ce5a6b1c9841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141879f8a04b45" /><Relationship Type="http://schemas.openxmlformats.org/officeDocument/2006/relationships/notesMaster" Target="/ppt/notesMasters/notesMaster1.xml" Id="Re5371c5a8e014f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d8983cb0d4d80" /><Relationship Type="http://schemas.openxmlformats.org/officeDocument/2006/relationships/notesMaster" Target="/ppt/notesMasters/notesMaster1.xml" Id="Ree2a556a306e45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55f959d409441f" /><Relationship Type="http://schemas.openxmlformats.org/officeDocument/2006/relationships/notesMaster" Target="/ppt/notesMasters/notesMaster1.xml" Id="Ra003e43a166e4f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b3f448b832487c" /><Relationship Type="http://schemas.openxmlformats.org/officeDocument/2006/relationships/notesMaster" Target="/ppt/notesMasters/notesMaster1.xml" Id="Rd956a4bf0f08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КонтурДДС — учебный прототип, не действующая система 112. Основания: docs/product-spec.md и Q&amp;A заказчика. Заявленные эффекты обучения ещё не проверены на людях.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Q&amp;A https://drive.google.com/file/d/1qpYkmGuSVKPBrBQgC_WB5luTcDzr0ZW9/view, 17:42–18:53, 21:41–24:11, 39:12–43:19. Фокус: готовая карточка, исходящий доклад. АРМ должен повторять предоставленные поля/цвета: 25:15–27:47. 30с/3мин — изменяемые учебные ориентиры, не нормативная сертификация. Пользовательские интервью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docs/product-spec.md, docs/api-contract.md; Q&amp;A 14:00 и 37:00–38:00 про контроль преподавателя, 53:10–54:55 про назначения. Не утверждать наличие педагогического пилота. Версия сценария фиксируется в снимке попытки.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экран работающего MVP; источник deliverables/assets/workspace-viewport.png. Предоставленные заказчиком скриншоты АРМ использованы как референс полей, состояний и цветов. Это программный учебный телефон; физическая SIP-интеграция не проверена. Q&amp;A 10:35–11:10 допускает компьютерный симулятор.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экран: deliverables/assets/report-evidence.png. Исходный PNG сохранён без изменения содержимого. Оценивание: docs/product-spec.md и backend/app/assessment. Время, статусы и номер проверяются правилами; текстовая семантика ограничена. Спорные случаи направляются преподавателю. Не заявлять полноту проверки фактического смысла. ASR не равен ответу ученика — текст перед сдачей подтверждается.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Реальное исполнение: docs/local-ai.md, docs/local-ai-validation.json и docs/local-ai-generation-validation.json. Whisper-small CPU; Qwen3 1.7B Q4_K_M CPU4, llama-server loopback11434; ASR11435. Нейросетевой анализ показал максимум3/6 на синтетических примерах и не используется как окончательная оценка. Узкая генерация3/3 — маленькая настроечная выборка, не доказательство общей точности. Linux/x86 и физический РТУ не проверены.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Публичные материалы вендоров, не наше испытание: https://911trainer.com/ ; https://equature.com/solutions/smartsim ; https://www.sklls.ai/ ; https://www.eventidecommunications.com/critical-insights-ai-training-simulator/ . Российские учебные комплексы: https://www.umcgo.ru/8-main-menu.html и https://sibpsa.ru/sveden/objects/ . Подробнее docs/product-research.md и memory-bank/research/2026-09-19-market-research.md. Наличие аналога или неупоминание функции не доказывает отсутствие/наличие offline у конкретного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docs/load-test-results.json, generated_at=2026-09-18T22:38:04.182633+00:00; docs/benchmark-results.json, generated_at=2026-09-18T22:37:28.359721+00:00. Нагрузка: короткий API burst, один worker, SQLiteWAL, macOS arm64/48GB. Не измерялись отрисовка UI, длительная эксплуатация или100людей. Benchmark: synthetic development seed, неслепая и неметодистская выборка. Unsupported не считается верным ответом. Тесты проекта меняются, их количество на слайд не вынесено.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Предложение, не выполненные исследования. docs/product-research.md и memory-bank/research/2026-09-19-evaluation-design.md. 2–3методиста,5–8представителейролей — состав для обсуждения, не набранные участники. Размер учебного пилота определяется после baseline, без необоснованных обещаний статистической значимости.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Целевая гипотеза из docs/product-research.md: снижение медианного времени преподавателя на20% без ухудшения выявления критических ошибок. Это цель для обсуждения, не измеренный результат. Требуются представитель учебного центра, методист, выбранные службы, целевые компьютеры и согласованная рубрика. Реальная SIPинтеграция/закрытыйконтур — отдельный этап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f4f23943e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8141c882374731" /><Relationship Type="http://schemas.openxmlformats.org/officeDocument/2006/relationships/slideLayout" Target="/ppt/slideLayouts/slideLayout1.xml" Id="R872745828c6f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745828c6f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3b04025f5431a" /><Relationship Type="http://schemas.openxmlformats.org/officeDocument/2006/relationships/notesSlide" Target="/ppt/notesSlides/notesSlide1.xml" Id="R8bc2bbadd67241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ac1355a824b21" /><Relationship Type="http://schemas.openxmlformats.org/officeDocument/2006/relationships/notesSlide" Target="/ppt/notesSlides/notesSlide2.xml" Id="R303f26a34ec442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ea079ec3f4a08" /><Relationship Type="http://schemas.openxmlformats.org/officeDocument/2006/relationships/notesSlide" Target="/ppt/notesSlides/notesSlide3.xml" Id="R2b4af96f6302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2b93e35264c75" /><Relationship Type="http://schemas.openxmlformats.org/officeDocument/2006/relationships/image" Target="/ppt/media/image.jpeg" Id="R977b0022137046c8" /><Relationship Type="http://schemas.openxmlformats.org/officeDocument/2006/relationships/notesSlide" Target="/ppt/notesSlides/notesSlide4.xml" Id="Raa24bf280f16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f72c59eb3479f" /><Relationship Type="http://schemas.openxmlformats.org/officeDocument/2006/relationships/image" Target="/ppt/media/image2.jpeg" Id="R432ce55ea1a64622" /><Relationship Type="http://schemas.openxmlformats.org/officeDocument/2006/relationships/notesSlide" Target="/ppt/notesSlides/notesSlide5.xml" Id="Ra1b45ae2b64a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dcf7bba964ba7" /><Relationship Type="http://schemas.openxmlformats.org/officeDocument/2006/relationships/notesSlide" Target="/ppt/notesSlides/notesSlide6.xml" Id="Ra7b45d4713e8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641d9d6d049d2" /><Relationship Type="http://schemas.openxmlformats.org/officeDocument/2006/relationships/notesSlide" Target="/ppt/notesSlides/notesSlide7.xml" Id="R20f4a0560f2141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ec43ad31a4868" /><Relationship Type="http://schemas.openxmlformats.org/officeDocument/2006/relationships/notesSlide" Target="/ppt/notesSlides/notesSlide8.xml" Id="R1da5e2dbb33847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af8e743cc43cc" /><Relationship Type="http://schemas.openxmlformats.org/officeDocument/2006/relationships/notesSlide" Target="/ppt/notesSlides/notesSlide9.xml" Id="Rb22e26ce12fb43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5af5432ef49f9" /><Relationship Type="http://schemas.openxmlformats.org/officeDocument/2006/relationships/notesSlide" Target="/ppt/notesSlides/notesSlide10.xml" Id="R58384000370948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283143A2-F328-45C6-B710-0D526DCE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03562FB-9700-447D-BC13-5A00EB92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КонтурДДС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2359484-5FA5-4B8D-99B8-378DA8EC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952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Тренажёр работы диспетчера</a:t>
            </a:r>
          </a:p>
          <a:p xmlns:a="http://schemas.openxmlformats.org/drawingml/2006/main">
            <a:pPr>
              <a:defRPr sz="30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по готовой карточке происшествия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A26B99C-2DA5-4E42-841A-C4B40CD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Локальное занятие · исходящий доклад · разбор преподавателем</a:t>
            </a:r>
          </a:p>
        </p:txBody>
      </p:sp>
    </p:spTree>
    <p:extLst>
      <p:ext uri="{BB962C8B-B14F-4D97-AF65-F5344CB8AC3E}">
        <p14:creationId xmlns:p14="http://schemas.microsoft.com/office/powerpoint/2010/main" val="2044724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">
            <a:extLst xmlns:a="http://schemas.openxmlformats.org/drawingml/2006/main">
              <a:ext uri="{FF2B5EF4-FFF2-40B4-BE49-F238E27FC236}">
                <a16:creationId xmlns:a16="http://schemas.microsoft.com/office/drawing/2014/main" id="{315DD0CE-93F4-481F-98C2-087EB85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Задача диспетчера ДДС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A5770FC5-789A-4C10-9F2D-86BB0CF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D95F8160-9DB3-47BF-BA54-5C5F0B9E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Учащийся получает готовую карточку</a:t>
            </a:r>
          </a:p>
          <a:p xmlns:a="http://schemas.openxmlformats.org/drawingml/2006/main">
            <a:pPr>
              <a:defRPr sz="27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и отрабатывает весь цикл реагирования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EB0B75B6-439B-429B-9173-8F2F257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84FB23B0-17B1-4CBE-8B81-6F1ABDFE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670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Принять карточку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FB2F6E50-9502-4C39-8085-8E33EBDA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67050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Открыть, проверить сведения и зафиксировать принятие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6F46CC09-0FD0-4DFC-BAA4-D2300ED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59AED1CB-AD97-4C84-9599-BA48944D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Передать сведения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F2CA0154-3993-4895-BA3A-DF67C01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62400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Набрать учебный номер и сделать исходящий доклад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A79949CC-77B8-4FFF-8023-0B4F6E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E532D2C6-DFC5-497B-88A3-2607160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Завершить работу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A70FE27D-7321-4861-B9EA-B40783B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624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Внести статусы, комментарии и итог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5F76F3AB-EF0F-4FBD-BD9B-13341FBC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Основание: материалы заказчика и запись Q&amp;A. Первичный приём звонка гражданина — вне текущего MVP.</a:t>
            </a:r>
          </a:p>
        </p:txBody>
      </p:sp>
    </p:spTree>
    <p:extLst>
      <p:ext uri="{BB962C8B-B14F-4D97-AF65-F5344CB8AC3E}">
        <p14:creationId xmlns:p14="http://schemas.microsoft.com/office/powerpoint/2010/main" val="222620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C4B6C51D-9002-42CA-817C-79BE39DB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Один цикл для преподавателя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2926127A-6763-43C8-9DFF-4A46ACB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55A80512-E008-466D-A4A6-76BDEC28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ext-21">
            <a:extLst xmlns:a="http://schemas.openxmlformats.org/drawingml/2006/main">
              <a:ext uri="{FF2B5EF4-FFF2-40B4-BE49-F238E27FC236}">
                <a16:creationId xmlns:a16="http://schemas.microsoft.com/office/drawing/2014/main" id="{8E46B5A1-1B19-467D-90C3-FB9369C2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71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Подготовить</a:t>
            </a: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2C4978B5-AB6D-4646-A466-E67D16B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714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Выбрать шаблон или получить локальный AI-черновик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55A18EA8-D1CE-4ED9-8E96-3E1BCAD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3F9CB888-2D9A-4CC1-AC8F-C6D244D7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526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Утвердить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B590FC44-9581-4D17-B8C1-7E2E8762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714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Проверить факты, критерии и эталон до назначения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439274DF-596E-4CF8-B603-CCB9FFB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CA2E98D7-37A1-481B-AE1D-DFC64DF6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337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Назначить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788DABE3-7842-4052-83BF-A654EF6C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714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Выбрать учащихся и наблюдать учебные попытки</a:t>
            </a:r>
          </a:p>
        </p:txBody>
      </p:sp>
      <p:sp>
        <p:nvSpPr>
          <p:cNvPr id="12" name="text-29">
            <a:extLst xmlns:a="http://schemas.openxmlformats.org/drawingml/2006/main">
              <a:ext uri="{FF2B5EF4-FFF2-40B4-BE49-F238E27FC236}">
                <a16:creationId xmlns:a16="http://schemas.microsoft.com/office/drawing/2014/main" id="{53B06874-B89F-4F38-8547-5AC8D5A1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text-30">
            <a:extLst xmlns:a="http://schemas.openxmlformats.org/drawingml/2006/main">
              <a:ext uri="{FF2B5EF4-FFF2-40B4-BE49-F238E27FC236}">
                <a16:creationId xmlns:a16="http://schemas.microsoft.com/office/drawing/2014/main" id="{1C950BDA-D608-424D-B307-C170371D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Разобрать</a:t>
            </a:r>
          </a:p>
        </p:txBody>
      </p:sp>
      <p:sp>
        <p:nvSpPr>
          <p:cNvPr id="14" name="text-31">
            <a:extLst xmlns:a="http://schemas.openxmlformats.org/drawingml/2006/main">
              <a:ext uri="{FF2B5EF4-FFF2-40B4-BE49-F238E27FC236}">
                <a16:creationId xmlns:a16="http://schemas.microsoft.com/office/drawing/2014/main" id="{C20A8A2A-BD14-4011-836F-E8DF925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14775"/>
            <a:ext cx="714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Проверить доказательства, скорректировать результат с причиной</a:t>
            </a:r>
          </a:p>
        </p:txBody>
      </p:sp>
      <p:sp>
        <p:nvSpPr>
          <p:cNvPr id="15" name="text-32">
            <a:extLst xmlns:a="http://schemas.openxmlformats.org/drawingml/2006/main">
              <a:ext uri="{FF2B5EF4-FFF2-40B4-BE49-F238E27FC236}">
                <a16:creationId xmlns:a16="http://schemas.microsoft.com/office/drawing/2014/main" id="{83777A6D-92A5-4A32-BFA6-0611EFAA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text-33">
            <a:extLst xmlns:a="http://schemas.openxmlformats.org/drawingml/2006/main">
              <a:ext uri="{FF2B5EF4-FFF2-40B4-BE49-F238E27FC236}">
                <a16:creationId xmlns:a16="http://schemas.microsoft.com/office/drawing/2014/main" id="{0C132549-A5EE-4DBB-9B50-6892E4C2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958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Повторить</a:t>
            </a:r>
          </a:p>
        </p:txBody>
      </p:sp>
      <p:sp>
        <p:nvSpPr>
          <p:cNvPr id="17" name="text-34">
            <a:extLst xmlns:a="http://schemas.openxmlformats.org/drawingml/2006/main">
              <a:ext uri="{FF2B5EF4-FFF2-40B4-BE49-F238E27FC236}">
                <a16:creationId xmlns:a16="http://schemas.microsoft.com/office/drawing/2014/main" id="{BB896F5A-C888-4BE9-98A4-F13F76F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714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Назначить новую отработку нужного навыка</a:t>
            </a:r>
          </a:p>
        </p:txBody>
      </p:sp>
      <p:sp>
        <p:nvSpPr>
          <p:cNvPr id="18" name="text-35">
            <a:extLst xmlns:a="http://schemas.openxmlformats.org/drawingml/2006/main">
              <a:ext uri="{FF2B5EF4-FFF2-40B4-BE49-F238E27FC236}">
                <a16:creationId xmlns:a16="http://schemas.microsoft.com/office/drawing/2014/main" id="{AEAF5E6C-6C8A-48CF-A970-0E4B09DB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Преподаватель управляет заданием и итогом. Изменение сценария не переписывает уже начатую попытку.</a:t>
            </a:r>
          </a:p>
        </p:txBody>
      </p:sp>
    </p:spTree>
    <p:extLst>
      <p:ext uri="{BB962C8B-B14F-4D97-AF65-F5344CB8AC3E}">
        <p14:creationId xmlns:p14="http://schemas.microsoft.com/office/powerpoint/2010/main" val="944045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C19E7E5A-C436-4A51-B6DD-F3BBEAE9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Рабочее место диспетчера</a:t>
            </a:r>
          </a:p>
        </p:txBody>
      </p:sp>
      <p:sp>
        <p:nvSpPr>
          <p:cNvPr id="2" name="text-37">
            <a:extLst xmlns:a="http://schemas.openxmlformats.org/drawingml/2006/main">
              <a:ext uri="{FF2B5EF4-FFF2-40B4-BE49-F238E27FC236}">
                <a16:creationId xmlns:a16="http://schemas.microsoft.com/office/drawing/2014/main" id="{D5610B14-ACEA-425B-A6A8-9633A412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b0022137046c8"/>
          <a:stretch xmlns:a="http://schemas.openxmlformats.org/drawingml/2006/main"/>
        </p:blipFill>
        <p:spPr>
          <a:xfrm xmlns:a="http://schemas.openxmlformats.org/drawingml/2006/main">
            <a:off x="1228725" y="1562100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BAE2F5BD-D397-4212-A176-0057371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Узнаваемая карточка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DDF42C64-77BE-48F1-919F-E98870D5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24125"/>
            <a:ext cx="2609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Поля, статусы и история действий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92F7973F-57B0-4EEA-B18C-099A903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62375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Исходящий доклад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A04410FF-7EF5-4B6A-B988-03A7FD85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43425"/>
            <a:ext cx="2609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Учебный номер, голосовая реплика и запись ответа</a:t>
            </a:r>
          </a:p>
        </p:txBody>
      </p:sp>
      <p:sp>
        <p:nvSpPr>
          <p:cNvPr id="8" name="text-42">
            <a:extLst xmlns:a="http://schemas.openxmlformats.org/drawingml/2006/main">
              <a:ext uri="{FF2B5EF4-FFF2-40B4-BE49-F238E27FC236}">
                <a16:creationId xmlns:a16="http://schemas.microsoft.com/office/drawing/2014/main" id="{FF3DA5E0-497E-4273-BFD3-1FA0EB59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Снимок работающего прототипа. Учебные данные; звонки на реальные номера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1573442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91AAF69E-EE69-4DC0-9753-71DC44BD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Разбор с доказательствами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E2AF35A4-8213-45C7-986C-B217B8ED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ce55ea1a64622"/>
          <a:stretch xmlns:a="http://schemas.openxmlformats.org/drawingml/2006/main"/>
        </p:blipFill>
        <p:spPr>
          <a:xfrm xmlns:a="http://schemas.openxmlformats.org/drawingml/2006/main">
            <a:off x="1228725" y="1562100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4" name="text-45">
            <a:extLst xmlns:a="http://schemas.openxmlformats.org/drawingml/2006/main">
              <a:ext uri="{FF2B5EF4-FFF2-40B4-BE49-F238E27FC236}">
                <a16:creationId xmlns:a16="http://schemas.microsoft.com/office/drawing/2014/main" id="{503FA0D0-92C4-4627-88C0-5D50BF1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60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За что замечание</a:t>
            </a:r>
          </a:p>
        </p:txBody>
      </p:sp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D4A79322-3C3F-419D-93F4-C1568758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24125"/>
            <a:ext cx="2609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Событие, текст и ожидаемое действие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D55A3B79-53DF-4AC8-995C-EE7B19EC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62375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Кто решает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B293AD31-1832-4CED-B194-B9B59C02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43425"/>
            <a:ext cx="2609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Преподаватель подтверждает или меняет итог с причиной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A6B8A5C4-F9B5-49DD-AE13-818EE22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Ошибка распознавания не должна становиться ошибкой учащегося. Спорный смысл требует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371381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CD5B6DB4-7497-4A47-9071-8BA7F87B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Локальная работа и границы AI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A6CA0961-40AB-4D58-AAB9-81E45FC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400550"/>
              </a:tblGrid>
              <a:tr h="869156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Граница ответственности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69156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Карточки, назначения, журнал, разбор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Данные и действия сохраняются локально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Whisper small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Доклад 9,7 с обработан за 2,8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Учащийся подтверждает текст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Qwen3 1.7B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Предлагает черновик учебного текста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Факты проверяются; утверждает преподаватель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52">
            <a:extLst xmlns:a="http://schemas.openxmlformats.org/drawingml/2006/main">
              <a:ext uri="{FF2B5EF4-FFF2-40B4-BE49-F238E27FC236}">
                <a16:creationId xmlns:a16="http://schemas.microsoft.com/office/drawing/2014/main" id="{D3A3417D-D2DC-4A95-A8D2-E2376D52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LLM-анализ: 3/6 примеров. Итог подтверждает преподаватель</a:t>
            </a:r>
          </a:p>
        </p:txBody>
      </p:sp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AFD8822B-C007-4AB7-8B5B-E49BA042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Локальные модели. Замер ASR: один синтетический WAV на Mac 48 ГБ; целевая конфигурация ещё не проверена.</a:t>
            </a:r>
          </a:p>
        </p:txBody>
      </p:sp>
    </p:spTree>
    <p:extLst>
      <p:ext uri="{BB962C8B-B14F-4D97-AF65-F5344CB8AC3E}">
        <p14:creationId xmlns:p14="http://schemas.microsoft.com/office/powerpoint/2010/main" val="1700633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9572AB00-8E76-43AE-AC94-82A3FCCC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Рынок и выбранный фокус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38C9FC44-5C98-4D7B-988E-7B66371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400550"/>
              </a:tblGrid>
              <a:tr h="842963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Категория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Примеры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Вывод для продукта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42963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Учебные АРМ 112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Звенигород, Сибирская академия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Учебная инфраструктура уже существует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CAD и телефонные симуляторы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9-1-1 Reality, Equature SmartSim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Нужен полный рабочий цикл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AI-тренажёры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Sklls, Eventide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AI-сценарии и рубрики уже есть на рынке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50B00434-F4F3-4B94-99DD-BA5E17D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Наш фокус — сценарий работы московской ДДС</a:t>
            </a:r>
          </a:p>
        </p:txBody>
      </p:sp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970CEBEA-E0FD-493E-AA67-C20C7E1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Поля АРМ, исходящий доклад и локальный разбор по материалам заказчика. Уникальность категории не заявляется.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563278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8">
            <a:extLst xmlns:a="http://schemas.openxmlformats.org/drawingml/2006/main">
              <a:ext uri="{FF2B5EF4-FFF2-40B4-BE49-F238E27FC236}">
                <a16:creationId xmlns:a16="http://schemas.microsoft.com/office/drawing/2014/main" id="{ECF8D3BD-FD79-43B3-A027-080C1ED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Что уже измерено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FBDE03B8-B701-4D3C-8921-016628A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143250"/>
                <a:gridCol w="4114800"/>
              </a:tblGrid>
              <a:tr h="8286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Измерение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Границы вывода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286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API: 100 учётных записей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p95 417 мс; 0 ошибок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Короткая серия API-запросов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 активных попыток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200/200 событий сохранено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Все события этого прогона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Синтетические проверки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27/28 точных совпадений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 из 48 проверок ещё не поддержаны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60">
            <a:extLst xmlns:a="http://schemas.openxmlformats.org/drawingml/2006/main">
              <a:ext uri="{FF2B5EF4-FFF2-40B4-BE49-F238E27FC236}">
                <a16:creationId xmlns:a16="http://schemas.microsoft.com/office/drawing/2014/main" id="{3A4340F1-EEF9-4E6F-9A2B-2BDB6BC0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Измерения прототипа ≠ доказанный эффект обучения</a:t>
            </a:r>
          </a:p>
        </p:txBody>
      </p:sp>
      <p:sp>
        <p:nvSpPr>
          <p:cNvPr id="5" name="text-61">
            <a:extLst xmlns:a="http://schemas.openxmlformats.org/drawingml/2006/main">
              <a:ext uri="{FF2B5EF4-FFF2-40B4-BE49-F238E27FC236}">
                <a16:creationId xmlns:a16="http://schemas.microsoft.com/office/drawing/2014/main" id="{D4D9D15B-0A61-45D5-8D8A-8CCD6305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На целевом i5/16 ГБ, в живом классе и на независимых экспертных ответах проверок ещё не было.</a:t>
            </a:r>
          </a:p>
        </p:txBody>
      </p:sp>
    </p:spTree>
    <p:extLst>
      <p:ext uri="{BB962C8B-B14F-4D97-AF65-F5344CB8AC3E}">
        <p14:creationId xmlns:p14="http://schemas.microsoft.com/office/powerpoint/2010/main" val="1789284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F51B8208-D8C0-4CD7-ADCC-E8529D09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План проверки с учебным центром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3C624A64-CCAC-4BE7-AB77-5889C9B5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584F63D3-026F-4F73-B429-EC1BF07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Предметная проверка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DF2C9B7D-2002-4103-99AC-A64AF8B1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38300"/>
            <a:ext cx="671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Методисты согласуют сценарии, статусы и критические ошибки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21A125DB-81A1-4F32-A6F6-7574ADB8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Проверка интерфейса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846B3E7D-9AD3-4CD1-9801-DB50B65A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671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Представители ролей выполняют занятие без подсказок разработчика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859FB0EC-7CBB-48A5-BCFF-50E41243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Независимая оценка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4C01B4A4-DEAB-4159-9813-2DEA8A2B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671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Два эксперта размечают закрытый набор; сравниваем ошибки системы</a:t>
            </a:r>
          </a:p>
        </p:txBody>
      </p:sp>
      <p:sp>
        <p:nvSpPr>
          <p:cNvPr id="9" name="text-70">
            <a:extLst xmlns:a="http://schemas.openxmlformats.org/drawingml/2006/main">
              <a:ext uri="{FF2B5EF4-FFF2-40B4-BE49-F238E27FC236}">
                <a16:creationId xmlns:a16="http://schemas.microsoft.com/office/drawing/2014/main" id="{83642282-3415-4D35-84A6-E6A22449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Учебный пилот</a:t>
            </a:r>
          </a:p>
        </p:txBody>
      </p:sp>
      <p:sp>
        <p:nvSpPr>
          <p:cNvPr id="10" name="text-71">
            <a:extLst xmlns:a="http://schemas.openxmlformats.org/drawingml/2006/main">
              <a:ext uri="{FF2B5EF4-FFF2-40B4-BE49-F238E27FC236}">
                <a16:creationId xmlns:a16="http://schemas.microsoft.com/office/drawing/2014/main" id="{96F6DCD6-9905-48AB-9715-ED11C4C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52950"/>
            <a:ext cx="671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Измеряем разбор преподавателя и перенос навыка на новые задания</a:t>
            </a:r>
          </a:p>
        </p:txBody>
      </p:sp>
      <p:sp>
        <p:nvSpPr>
          <p:cNvPr id="11" name="text-72">
            <a:extLst xmlns:a="http://schemas.openxmlformats.org/drawingml/2006/main">
              <a:ext uri="{FF2B5EF4-FFF2-40B4-BE49-F238E27FC236}">
                <a16:creationId xmlns:a16="http://schemas.microsoft.com/office/drawing/2014/main" id="{055ED867-1F04-4103-B34A-F2C36A35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Сначала исходные замеры и согласие экспертов. Пользовательский пилот пока не проведён.</a:t>
            </a:r>
          </a:p>
        </p:txBody>
      </p:sp>
    </p:spTree>
    <p:extLst>
      <p:ext uri="{BB962C8B-B14F-4D97-AF65-F5344CB8AC3E}">
        <p14:creationId xmlns:p14="http://schemas.microsoft.com/office/powerpoint/2010/main" val="117132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3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3">
            <a:extLst xmlns:a="http://schemas.openxmlformats.org/drawingml/2006/main">
              <a:ext uri="{FF2B5EF4-FFF2-40B4-BE49-F238E27FC236}">
                <a16:creationId xmlns:a16="http://schemas.microsoft.com/office/drawing/2014/main" id="{AA5766EC-9A19-4139-9566-6348219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 — пилот</a:t>
            </a:r>
          </a:p>
        </p:txBody>
      </p:sp>
      <p:sp>
        <p:nvSpPr>
          <p:cNvPr id="2" name="text-74">
            <a:extLst xmlns:a="http://schemas.openxmlformats.org/drawingml/2006/main">
              <a:ext uri="{FF2B5EF4-FFF2-40B4-BE49-F238E27FC236}">
                <a16:creationId xmlns:a16="http://schemas.microsoft.com/office/drawing/2014/main" id="{4E225EEC-617E-4839-8A96-617EBAC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D86FD34E-6956-4795-AD6D-3AD0812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Проверить экономию времени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корректно разобранной попытке</a:t>
            </a:r>
          </a:p>
        </p:txBody>
      </p:sp>
      <p:sp>
        <p:nvSpPr>
          <p:cNvPr id="4" name="text-76">
            <a:extLst xmlns:a="http://schemas.openxmlformats.org/drawingml/2006/main">
              <a:ext uri="{FF2B5EF4-FFF2-40B4-BE49-F238E27FC236}">
                <a16:creationId xmlns:a16="http://schemas.microsoft.com/office/drawing/2014/main" id="{AF6B7CDF-0DD1-4E54-B9BE-4DB5412A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ED3C4"/>
                </a:solidFill>
                <a:latin typeface="Arial"/>
                <a:ea typeface="Arial"/>
                <a:cs typeface="Arial"/>
              </a:rPr>
              <a:t>−20%</a:t>
            </a:r>
          </a:p>
        </p:txBody>
      </p:sp>
      <p:sp>
        <p:nvSpPr>
          <p:cNvPr id="5" name="text-77">
            <a:extLst xmlns:a="http://schemas.openxmlformats.org/drawingml/2006/main">
              <a:ext uri="{FF2B5EF4-FFF2-40B4-BE49-F238E27FC236}">
                <a16:creationId xmlns:a16="http://schemas.microsoft.com/office/drawing/2014/main" id="{17C405A3-7191-4625-B2F7-6EA0BBE6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74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целевой ориентир пилота,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достигнутый результат</a:t>
            </a:r>
          </a:p>
        </p:txBody>
      </p:sp>
      <p:sp>
        <p:nvSpPr>
          <p:cNvPr id="6" name="text-78">
            <a:extLst xmlns:a="http://schemas.openxmlformats.org/drawingml/2006/main">
              <a:ext uri="{FF2B5EF4-FFF2-40B4-BE49-F238E27FC236}">
                <a16:creationId xmlns:a16="http://schemas.microsoft.com/office/drawing/2014/main" id="{A537F88F-EEE2-4162-B178-B76A8CD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Для старта: методист, две службы и целевой учебный класс</a:t>
            </a:r>
          </a:p>
        </p:txBody>
      </p:sp>
    </p:spTree>
    <p:extLst>
      <p:ext uri="{BB962C8B-B14F-4D97-AF65-F5344CB8AC3E}">
        <p14:creationId xmlns:p14="http://schemas.microsoft.com/office/powerpoint/2010/main" val="1747645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2026-09-18T22:52:15.8940000Z</dcterms:created>
  <dcterms:modified xsi:type="dcterms:W3CDTF">2026-09-18T22:52:15.8940000Z</dcterms:modified>
</coreProperties>
</file>