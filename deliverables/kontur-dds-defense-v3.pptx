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f5c1e2e2a54c6f" /><Relationship Type="http://schemas.openxmlformats.org/officeDocument/2006/relationships/extended-properties" Target="/docProps/app.xml" Id="Rd30f87f4afc3477d" /><Relationship Type="http://schemas.openxmlformats.org/officeDocument/2006/relationships/officeDocument" Target="/ppt/presentation.xml" Id="R1769f7a413f44f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e7af7a5b64603"/>
  </p:sldMasterIdLst>
  <p:notesMasterIdLst>
    <p:notesMasterId xmlns:r="http://schemas.openxmlformats.org/officeDocument/2006/relationships" r:id="R93da4c10371e4541"/>
  </p:notesMasterIdLst>
  <p:sldIdLst>
    <p:sldId xmlns:r="http://schemas.openxmlformats.org/officeDocument/2006/relationships" id="256" r:id="Reb62122950b84473"/>
    <p:sldId xmlns:r="http://schemas.openxmlformats.org/officeDocument/2006/relationships" id="257" r:id="R24c46cb61af14791"/>
    <p:sldId xmlns:r="http://schemas.openxmlformats.org/officeDocument/2006/relationships" id="258" r:id="R937bcba5ac134a0c"/>
    <p:sldId xmlns:r="http://schemas.openxmlformats.org/officeDocument/2006/relationships" id="259" r:id="R49e7099488f84582"/>
    <p:sldId xmlns:r="http://schemas.openxmlformats.org/officeDocument/2006/relationships" id="260" r:id="Rf4e81c17c72c4e53"/>
    <p:sldId xmlns:r="http://schemas.openxmlformats.org/officeDocument/2006/relationships" id="261" r:id="R8af787adbc5c49f7"/>
    <p:sldId xmlns:r="http://schemas.openxmlformats.org/officeDocument/2006/relationships" id="262" r:id="R9b4ffe458813404e"/>
    <p:sldId xmlns:r="http://schemas.openxmlformats.org/officeDocument/2006/relationships" id="263" r:id="R3b03c5c175a448be"/>
    <p:sldId xmlns:r="http://schemas.openxmlformats.org/officeDocument/2006/relationships" id="264" r:id="R84a2995d211e4d63"/>
    <p:sldId xmlns:r="http://schemas.openxmlformats.org/officeDocument/2006/relationships" id="265" r:id="Ra496946fccfa4a55"/>
    <p:sldId xmlns:r="http://schemas.openxmlformats.org/officeDocument/2006/relationships" id="266" r:id="R05de3d5b22a24f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64f68b78664b6e" /><Relationship Type="http://schemas.openxmlformats.org/officeDocument/2006/relationships/slideMaster" Target="/ppt/slideMasters/slideMaster1.xml" Id="R99ce7af7a5b64603" /><Relationship Type="http://schemas.openxmlformats.org/officeDocument/2006/relationships/notesMaster" Target="/ppt/notesMasters/notesMaster1.xml" Id="R93da4c10371e4541" /><Relationship Type="http://schemas.openxmlformats.org/officeDocument/2006/relationships/presProps" Target="/ppt/presProps.xml" Id="Rfabbaa5d845841f7" /><Relationship Type="http://schemas.openxmlformats.org/officeDocument/2006/relationships/tableStyles" Target="/ppt/tableStyles.xml" Id="Rb63f3d8f3e6d4e7e" /><Relationship Type="http://schemas.openxmlformats.org/officeDocument/2006/relationships/slide" Target="/ppt/slides/slide1.xml" Id="Reb62122950b84473" /><Relationship Type="http://schemas.openxmlformats.org/officeDocument/2006/relationships/slide" Target="/ppt/slides/slide2.xml" Id="R24c46cb61af14791" /><Relationship Type="http://schemas.openxmlformats.org/officeDocument/2006/relationships/slide" Target="/ppt/slides/slide3.xml" Id="R937bcba5ac134a0c" /><Relationship Type="http://schemas.openxmlformats.org/officeDocument/2006/relationships/slide" Target="/ppt/slides/slide4.xml" Id="R49e7099488f84582" /><Relationship Type="http://schemas.openxmlformats.org/officeDocument/2006/relationships/slide" Target="/ppt/slides/slide5.xml" Id="Rf4e81c17c72c4e53" /><Relationship Type="http://schemas.openxmlformats.org/officeDocument/2006/relationships/slide" Target="/ppt/slides/slide6.xml" Id="R8af787adbc5c49f7" /><Relationship Type="http://schemas.openxmlformats.org/officeDocument/2006/relationships/slide" Target="/ppt/slides/slide7.xml" Id="R9b4ffe458813404e" /><Relationship Type="http://schemas.openxmlformats.org/officeDocument/2006/relationships/slide" Target="/ppt/slides/slide8.xml" Id="R3b03c5c175a448be" /><Relationship Type="http://schemas.openxmlformats.org/officeDocument/2006/relationships/slide" Target="/ppt/slides/slide9.xml" Id="R84a2995d211e4d63" /><Relationship Type="http://schemas.openxmlformats.org/officeDocument/2006/relationships/slide" Target="/ppt/slides/slide10.xml" Id="Ra496946fccfa4a55" /><Relationship Type="http://schemas.openxmlformats.org/officeDocument/2006/relationships/slide" Target="/ppt/slides/slide11.xml" Id="R05de3d5b22a2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89771962a34b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e4caf0775a438f" /><Relationship Type="http://schemas.openxmlformats.org/officeDocument/2006/relationships/notesMaster" Target="/ppt/notesMasters/notesMaster1.xml" Id="Rfb5d6e747265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df91d04e474237" /><Relationship Type="http://schemas.openxmlformats.org/officeDocument/2006/relationships/notesMaster" Target="/ppt/notesMasters/notesMaster1.xml" Id="R37db642132fc4a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d7c8c7b9c042db" /><Relationship Type="http://schemas.openxmlformats.org/officeDocument/2006/relationships/notesMaster" Target="/ppt/notesMasters/notesMaster1.xml" Id="Rca52767366c7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83a9042adc4930" /><Relationship Type="http://schemas.openxmlformats.org/officeDocument/2006/relationships/notesMaster" Target="/ppt/notesMasters/notesMaster1.xml" Id="R9df4c81a1bf64b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bbc39fc26b4ef8" /><Relationship Type="http://schemas.openxmlformats.org/officeDocument/2006/relationships/notesMaster" Target="/ppt/notesMasters/notesMaster1.xml" Id="R80a71c91688f45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5da76b4b734cae" /><Relationship Type="http://schemas.openxmlformats.org/officeDocument/2006/relationships/notesMaster" Target="/ppt/notesMasters/notesMaster1.xml" Id="R5fd484b4090b47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6cb0f716c44a6" /><Relationship Type="http://schemas.openxmlformats.org/officeDocument/2006/relationships/notesMaster" Target="/ppt/notesMasters/notesMaster1.xml" Id="Ra379717fde9c44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71706ebc2b4482" /><Relationship Type="http://schemas.openxmlformats.org/officeDocument/2006/relationships/notesMaster" Target="/ppt/notesMasters/notesMaster1.xml" Id="Ra23c7b8994ad41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def620b57471e" /><Relationship Type="http://schemas.openxmlformats.org/officeDocument/2006/relationships/notesMaster" Target="/ppt/notesMasters/notesMaster1.xml" Id="Reb3cb92f8cd54b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50cca9978d4789" /><Relationship Type="http://schemas.openxmlformats.org/officeDocument/2006/relationships/notesMaster" Target="/ppt/notesMasters/notesMaster1.xml" Id="Rfc90273b058d49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47569996f54a88" /><Relationship Type="http://schemas.openxmlformats.org/officeDocument/2006/relationships/notesMaster" Target="/ppt/notesMasters/notesMaster1.xml" Id="R7656578d345043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docs/product-research.md, docs/coverage.md, docs/benchmark-results.json; Q&amp;A https://drive.google.com/file/d/1qpYkmGuSVKPBrBQgC_WB5luTcDzr0ZW9/view. Текущий прототип включает ДДС и ограниченный текстовый путь 112. Инженерная и педагогическая проверка имеют разные статусы.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docs/product-research.md; docs/coverage.md; backend/app/routes/intake112.py. Q&amp;A https://drive.google.com/file/d/1qpYkmGuSVKPBrBQgC_WB5luTcDzr0ZW9/view, 17:42–18:51, 21:41–24:11: приоритет первого MVP — работа ДДС с готовой карточкой. Поздние ответы в чате №624–625 и №642 подтверждают, что общий объём ТЗ включает первичный 112. Малое упражнение 112 текстовое, на двух синтетических вводных. Входящий голосовой диалог и передача карточки в ДДС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ответ заказчика в чате №781; docs/coverage.md; backend/app/assessment.py; backend/tests/test_assessment.py. Время отсчитывается от начала учебной попытки. 30 секунд — открыть карточку. 3 минуты — впервые сохранить статус с непустым текстовым комментарием, независимо от завершения попытки. Параметры упражнения настраивает преподаватель. Это учебные пороги, не внешний норматив.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экран RC1 из deliverables/assets/workspace-viewport.png. Дизайн учебного АРМ основан на скриншотах, предоставленных заказчиком, и Q&amp;A 25:15–27:47. Методист не проверял применимость к действующему рабочему АРМ. Программный учебный телефон без реальной SIP-сети.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backend/app/routes/sessions.py, frontend/src/pages/Sessions.tsx, frontend/src/pages/Workspace.tsx, backend/tests/test_arrival_queue.py. Преподаватель выбирает заранее назначенные карточки и доставляет их одной операцией. Сервер атомарно переводит каждую из assigned в active с общим started_at. Ученик видит все активные карточки и переключается между ними; у каждой отсчёт идёт с поступления. Проверка: 24 focused backend/workflow tests и frontend production build. Ограничение запроса: до 100 ID. Ограничений одна в минуту или максимум три карточки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Контракт RC2: docs/specs/criterion-review.md, docs/api-contract.md; реализация backend/app/expert_review.py и frontend/src/components/CriterionReview.tsx. Таблица описывает механизм, не является скриншотом исследования с пользователем. Исходная оценка правил неизменна; решение по критерию и обоснование сохраняются отдельно; общий итог подтверждается явно.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docs/architecture.md, docs/local-ai.md, docs/local-ai-validation.json, docs/ui-validation.md. Qwen3-1.7B выполняет узкую генерацию и экспериментальные подсказки, не выставляет итоговую оценку. Whisper-small возвращает черновик распознанного текста; учащийся подтверждает его перед отправкой. Linux и целевой i5/16 ГБ не проверены.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docs/model-comparison.md и docs/model-comparison.json. До запросов зафиксированы 24 минимальные пары, 48 авторских синтетических примеров и пороги: 44/48 точных, улучшение ≥5, ноль ложных подтверждений, p95 ≤15с, RSS ≤8ГиБ. Qwen3-4B: 32/48, +10 к 1.7B, 4 ложных подтверждения, p95 7.28с, RSS5.40ГиБ; gate не пройден. Набор не проверен методистами и не является реальной точностью.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docs/load-test-results.json generated_at=2026-09-18T22:38:04.182633+00:00; docs/benchmark-results.json generated_at=2026-09-28T18:28:26.163220+00:00; docs/evaluation-report.md. Короткий HTTP API burst на Mac arm64/48ГБ, 1 worker SQLiteWAL. Авторский синтетический набор: 48 утверждений, 28 поддержаны, 27 из них точно совпали, 20 не поддержаны. Это не процент точности на всех 48 и не реальная точность. Нет независимой методистской разметки и реальных попыток. Не измерялись живой класс, длительная нагрузка, перенос навыка.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docs/pilot-protocol.md и docs/pilot-templates/README.md. План: 2 преподавателя, 6–8 учащихся, 45–60 минут; независимый разбор обезличенных журналов и сопоставимые задания. В обоих условиях, ручном и продуктовом, планируется симметрично измерять подготовку, проверку, исправления и обратную связь. До исследования нужно зафиксировать сценарии, критические критерии и процедуры. Формы пусты, людей не тестировали.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docs/pilot-protocol.md, разделы 8–10: ≥20% медианной экономии активного времени у каждого из двух преподавателей при корректной проверке — заранее заданный ориентир; не наблюдённый результат. Отдельно считаются критические ложные зачёты и перенос на новый случай. Технические проверки RC2/офлайн-пакет фиксируются в docs/release-readiness.md.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f67aa4b894b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e611a82e9439a" /><Relationship Type="http://schemas.openxmlformats.org/officeDocument/2006/relationships/slideLayout" Target="/ppt/slideLayouts/slideLayout1.xml" Id="Ra843f523c1eb4c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3f523c1eb4c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fdcff45aa44a1" /><Relationship Type="http://schemas.openxmlformats.org/officeDocument/2006/relationships/notesSlide" Target="/ppt/notesSlides/notesSlide1.xml" Id="Ra741547534d9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1e7b8dbc342b1" /><Relationship Type="http://schemas.openxmlformats.org/officeDocument/2006/relationships/notesSlide" Target="/ppt/notesSlides/notesSlide2.xml" Id="R242dc87b53db4f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c1e1509f34cb1" /><Relationship Type="http://schemas.openxmlformats.org/officeDocument/2006/relationships/notesSlide" Target="/ppt/notesSlides/notesSlide3.xml" Id="Rad717899167b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e37d57efb41c1" /><Relationship Type="http://schemas.openxmlformats.org/officeDocument/2006/relationships/image" Target="/ppt/media/image.jpeg" Id="Ree8d51d28a3b405b" /><Relationship Type="http://schemas.openxmlformats.org/officeDocument/2006/relationships/notesSlide" Target="/ppt/notesSlides/notesSlide4.xml" Id="R8bad81cd388245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3fc83f09d4461" /><Relationship Type="http://schemas.openxmlformats.org/officeDocument/2006/relationships/notesSlide" Target="/ppt/notesSlides/notesSlide5.xml" Id="R925326cd66d24f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a2336bb2b4993" /><Relationship Type="http://schemas.openxmlformats.org/officeDocument/2006/relationships/notesSlide" Target="/ppt/notesSlides/notesSlide6.xml" Id="R702ea227337e45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9753e9c834b9b" /><Relationship Type="http://schemas.openxmlformats.org/officeDocument/2006/relationships/notesSlide" Target="/ppt/notesSlides/notesSlide7.xml" Id="Rdf74345e25e646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5f57d790044fa" /><Relationship Type="http://schemas.openxmlformats.org/officeDocument/2006/relationships/notesSlide" Target="/ppt/notesSlides/notesSlide8.xml" Id="R792531c4e74845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cc18e1b664621" /><Relationship Type="http://schemas.openxmlformats.org/officeDocument/2006/relationships/notesSlide" Target="/ppt/notesSlides/notesSlide9.xml" Id="R7930e7fa2d8c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e5a2985314cce" /><Relationship Type="http://schemas.openxmlformats.org/officeDocument/2006/relationships/notesSlide" Target="/ppt/notesSlides/notesSlide10.xml" Id="R0732a6c0255e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7481bf4b14cc8" /><Relationship Type="http://schemas.openxmlformats.org/officeDocument/2006/relationships/notesSlide" Target="/ppt/notesSlides/notesSlide11.xml" Id="Rbfe132e2dc664c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93C914B0-FF68-439A-B891-EFDF3EF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420522C-D377-4D90-8229-E5DF874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Контур ДДС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98F60F4-3AE5-4CEE-9099-C06F4767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Учебные действия ДДС</a:t>
            </a:r>
          </a:p>
          <a:p xmlns:a="http://schemas.openxmlformats.org/drawingml/2006/main">
            <a:pPr>
              <a:defRPr sz="30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и текстовый путь 112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E675D1A-BFDB-45A4-BD36-9EE4644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прототипа и проверяемого разбора</a:t>
            </a:r>
          </a:p>
        </p:txBody>
      </p:sp>
    </p:spTree>
    <p:extLst>
      <p:ext uri="{BB962C8B-B14F-4D97-AF65-F5344CB8AC3E}">
        <p14:creationId xmlns:p14="http://schemas.microsoft.com/office/powerpoint/2010/main" val="7142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">
            <a:extLst xmlns:a="http://schemas.openxmlformats.org/drawingml/2006/main">
              <a:ext uri="{FF2B5EF4-FFF2-40B4-BE49-F238E27FC236}">
                <a16:creationId xmlns:a16="http://schemas.microsoft.com/office/drawing/2014/main" id="{28CFDE49-B090-47FD-91FE-33DCE4A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Два учебных пути в письменном ТЗ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BA46DCB9-B55D-48CB-868E-0FECAEE0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518B0FD3-87CC-432A-AB56-01C1FFFB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ДДС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0036779B-C5E6-48E8-BF55-308764D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Готовая карточка, статусы, учебный звонок, разбор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D2F20555-BE3C-4CCE-95F7-749FA7BF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4F75BAB6-D24A-468E-805A-DE4AA45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Текстовая вводная, заполнение полей и выбор служб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66E9850E-CADB-4D77-81DC-205C30C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Ограничение 112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59D044C1-787C-4029-8E57-DFBC64E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Два синтетических случая, без входящего голоса и передачи карточки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2135A320-F2EF-4FAC-B0DA-C09F567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Путь 112 покрыт частично. Приоритет ДДС не отменяет вторую роль из письменного ТЗ.</a:t>
            </a:r>
          </a:p>
        </p:txBody>
      </p:sp>
    </p:spTree>
    <p:extLst>
      <p:ext uri="{BB962C8B-B14F-4D97-AF65-F5344CB8AC3E}">
        <p14:creationId xmlns:p14="http://schemas.microsoft.com/office/powerpoint/2010/main" val="1972881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4">
            <a:extLst xmlns:a="http://schemas.openxmlformats.org/drawingml/2006/main">
              <a:ext uri="{FF2B5EF4-FFF2-40B4-BE49-F238E27FC236}">
                <a16:creationId xmlns:a16="http://schemas.microsoft.com/office/drawing/2014/main" id="{776D9F7F-C2DF-452E-A671-02EF1AB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Первые действия и время</a:t>
            </a:r>
          </a:p>
        </p:txBody>
      </p:sp>
      <p:sp>
        <p:nvSpPr>
          <p:cNvPr id="2" name="text-15">
            <a:extLst xmlns:a="http://schemas.openxmlformats.org/drawingml/2006/main">
              <a:ext uri="{FF2B5EF4-FFF2-40B4-BE49-F238E27FC236}">
                <a16:creationId xmlns:a16="http://schemas.microsoft.com/office/drawing/2014/main" id="{2BBC1A82-6FFD-4E01-A6A1-5BAC3FD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16">
            <a:extLst xmlns:a="http://schemas.openxmlformats.org/drawingml/2006/main">
              <a:ext uri="{FF2B5EF4-FFF2-40B4-BE49-F238E27FC236}">
                <a16:creationId xmlns:a16="http://schemas.microsoft.com/office/drawing/2014/main" id="{DD52DE02-5C06-487F-A73B-75870D2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30 секунд</a:t>
            </a:r>
          </a:p>
        </p:txBody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CE6AB6A3-B5A7-4D7F-9AE8-6D11216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Открыть карточку после поступления</a:t>
            </a:r>
          </a:p>
        </p:txBody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1461668A-D0D8-4911-B0F6-418BEDCB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3 минуты</a:t>
            </a:r>
          </a:p>
        </p:txBody>
      </p:sp>
      <p:sp>
        <p:nvSpPr>
          <p:cNvPr id="6" name="text-19">
            <a:extLst xmlns:a="http://schemas.openxmlformats.org/drawingml/2006/main">
              <a:ext uri="{FF2B5EF4-FFF2-40B4-BE49-F238E27FC236}">
                <a16:creationId xmlns:a16="http://schemas.microsoft.com/office/drawing/2014/main" id="{F9424E3F-D39E-44B3-9090-72718DEB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8127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Впервые сохранить статус с текстом</a:t>
            </a:r>
          </a:p>
        </p:txBody>
      </p:sp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A4D78E72-5638-452A-B13D-CA66DCD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«В работе»</a:t>
            </a:r>
          </a:p>
        </p:txBody>
      </p:sp>
      <p:sp>
        <p:nvSpPr>
          <p:cNvPr id="8" name="text-21">
            <a:extLst xmlns:a="http://schemas.openxmlformats.org/drawingml/2006/main">
              <a:ext uri="{FF2B5EF4-FFF2-40B4-BE49-F238E27FC236}">
                <a16:creationId xmlns:a16="http://schemas.microsoft.com/office/drawing/2014/main" id="{C1CBFBEC-FE26-4282-9196-58FD868A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Рабочее состояние карточки видно в интерфейсе</a:t>
            </a:r>
          </a:p>
        </p:txBody>
      </p:sp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D81A732D-3089-4F40-BD25-BD0C0F6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Завершение</a:t>
            </a:r>
          </a:p>
        </p:txBody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1419AC0C-343F-4D37-BCF0-AF5578FF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815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Отдельный этап; трёхминутный порог его не заменяет</a:t>
            </a:r>
          </a:p>
        </p:txBody>
      </p:sp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99F7D7A5-FF5F-48F1-AD48-17482A92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Два учебных порога. Наличие текста без сохранённого статуса не выполняет второй.</a:t>
            </a:r>
          </a:p>
        </p:txBody>
      </p:sp>
    </p:spTree>
    <p:extLst>
      <p:ext uri="{BB962C8B-B14F-4D97-AF65-F5344CB8AC3E}">
        <p14:creationId xmlns:p14="http://schemas.microsoft.com/office/powerpoint/2010/main" val="1850006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">
            <a:extLst xmlns:a="http://schemas.openxmlformats.org/drawingml/2006/main">
              <a:ext uri="{FF2B5EF4-FFF2-40B4-BE49-F238E27FC236}">
                <a16:creationId xmlns:a16="http://schemas.microsoft.com/office/drawing/2014/main" id="{19D09C84-57F8-4EA1-A6AB-A1B9982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Рабочее место диспетчера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6944047F-556E-4B32-844C-4408F6C9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d51d28a3b405b"/>
          <a:stretch xmlns:a="http://schemas.openxmlformats.org/drawingml/2006/main"/>
        </p:blipFill>
        <p:spPr>
          <a:xfrm xmlns:a="http://schemas.openxmlformats.org/drawingml/2006/main">
            <a:off x="1228725" y="1562100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E882AB4F-3B72-4904-B87C-51A1CA72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609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Готовая карточка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983ED191-DA1D-4107-AD47-BA89D31C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24125"/>
            <a:ext cx="2609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Поля и статусы по</a:t>
            </a:r>
          </a:p>
          <a:p xmlns:a="http://schemas.openxmlformats.org/drawingml/2006/main">
            <a:pPr>
              <a:defRPr sz="17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скриншотам заказчика.</a:t>
            </a:r>
          </a:p>
          <a:p xmlns:a="http://schemas.openxmlformats.org/drawingml/2006/main">
            <a:pPr>
              <a:defRPr sz="172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Методист ещё не проверял.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9250F048-666D-4F5E-87EC-37B559E8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9525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Учебный доклад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B09D0E90-4EBD-4EB6-B8B7-A6AAAA87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72000"/>
            <a:ext cx="2609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Номер контакта, реплика и ответ сохраняются в журнале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B9B62318-859E-482A-A0E1-EA85F3D4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Снимок раннего прототипа. Учебные данные. Применимость к рабочему АРМ не проверена.</a:t>
            </a:r>
          </a:p>
        </p:txBody>
      </p:sp>
    </p:spTree>
    <p:extLst>
      <p:ext uri="{BB962C8B-B14F-4D97-AF65-F5344CB8AC3E}">
        <p14:creationId xmlns:p14="http://schemas.microsoft.com/office/powerpoint/2010/main" val="390574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2">
            <a:extLst xmlns:a="http://schemas.openxmlformats.org/drawingml/2006/main">
              <a:ext uri="{FF2B5EF4-FFF2-40B4-BE49-F238E27FC236}">
                <a16:creationId xmlns:a16="http://schemas.microsoft.com/office/drawing/2014/main" id="{FFEE320C-0943-4B44-8885-65250F1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Очередь одновременно поступивших карточек</a:t>
            </a:r>
          </a:p>
        </p:txBody>
      </p:sp>
      <p:sp>
        <p:nvSpPr>
          <p:cNvPr id="2" name="text-33">
            <a:extLst xmlns:a="http://schemas.openxmlformats.org/drawingml/2006/main">
              <a:ext uri="{FF2B5EF4-FFF2-40B4-BE49-F238E27FC236}">
                <a16:creationId xmlns:a16="http://schemas.microsoft.com/office/drawing/2014/main" id="{45E88645-A424-4238-A83F-8D3A0180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34">
            <a:extLst xmlns:a="http://schemas.openxmlformats.org/drawingml/2006/main">
              <a:ext uri="{FF2B5EF4-FFF2-40B4-BE49-F238E27FC236}">
                <a16:creationId xmlns:a16="http://schemas.microsoft.com/office/drawing/2014/main" id="{978B3936-A31E-4FF0-864C-E8222C8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4" name="text-35">
            <a:extLst xmlns:a="http://schemas.openxmlformats.org/drawingml/2006/main">
              <a:ext uri="{FF2B5EF4-FFF2-40B4-BE49-F238E27FC236}">
                <a16:creationId xmlns:a16="http://schemas.microsoft.com/office/drawing/2014/main" id="{42515B3D-62A6-46E6-84EA-7C71830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6210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Выбирает назначенные карточки и доставляет вместе</a:t>
            </a:r>
          </a:p>
        </p:txBody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AB854711-6E66-4875-B9AE-240EB88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6" name="text-37">
            <a:extLst xmlns:a="http://schemas.openxmlformats.org/drawingml/2006/main">
              <a:ext uri="{FF2B5EF4-FFF2-40B4-BE49-F238E27FC236}">
                <a16:creationId xmlns:a16="http://schemas.microsoft.com/office/drawing/2014/main" id="{06615ADB-4294-488E-B6DB-4CBA6E9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62225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Общий момент поступления; каждая карточка активна</a:t>
            </a:r>
          </a:p>
        </p:txBody>
      </p:sp>
      <p:sp>
        <p:nvSpPr>
          <p:cNvPr id="7" name="text-38">
            <a:extLst xmlns:a="http://schemas.openxmlformats.org/drawingml/2006/main">
              <a:ext uri="{FF2B5EF4-FFF2-40B4-BE49-F238E27FC236}">
                <a16:creationId xmlns:a16="http://schemas.microsoft.com/office/drawing/2014/main" id="{0C24A3FA-C033-47A8-BA81-85BA1D39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Ученик</a:t>
            </a:r>
          </a:p>
        </p:txBody>
      </p: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D3792B4F-A6F1-4424-878B-D4C16474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623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Видит очередь и переключается между карточками</a:t>
            </a:r>
          </a:p>
        </p:txBody>
      </p:sp>
      <p:sp>
        <p:nvSpPr>
          <p:cNvPr id="9" name="text-40">
            <a:extLst xmlns:a="http://schemas.openxmlformats.org/drawingml/2006/main">
              <a:ext uri="{FF2B5EF4-FFF2-40B4-BE49-F238E27FC236}">
                <a16:creationId xmlns:a16="http://schemas.microsoft.com/office/drawing/2014/main" id="{0BEB8C21-E242-449D-B28A-BD9C9542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Таймеры</a:t>
            </a:r>
          </a:p>
        </p:txBody>
      </p:sp>
      <p:sp>
        <p:nvSpPr>
          <p:cNvPr id="10" name="text-41">
            <a:extLst xmlns:a="http://schemas.openxmlformats.org/drawingml/2006/main">
              <a:ext uri="{FF2B5EF4-FFF2-40B4-BE49-F238E27FC236}">
                <a16:creationId xmlns:a16="http://schemas.microsoft.com/office/drawing/2014/main" id="{63249B0A-FAD6-4B72-B82A-537ACC1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62475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Идут от поступления каждой карточки</a:t>
            </a:r>
          </a:p>
        </p:txBody>
      </p:sp>
      <p:sp>
        <p:nvSpPr>
          <p:cNvPr id="11" name="text-42">
            <a:extLst xmlns:a="http://schemas.openxmlformats.org/drawingml/2006/main">
              <a:ext uri="{FF2B5EF4-FFF2-40B4-BE49-F238E27FC236}">
                <a16:creationId xmlns:a16="http://schemas.microsoft.com/office/drawing/2014/main" id="{C85C62B3-C806-4F73-AAD8-5E0A3B39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Проверено тестами и сборкой. Живой класс с несколькими карточками ещё не исследован.</a:t>
            </a:r>
          </a:p>
        </p:txBody>
      </p:sp>
    </p:spTree>
    <p:extLst>
      <p:ext uri="{BB962C8B-B14F-4D97-AF65-F5344CB8AC3E}">
        <p14:creationId xmlns:p14="http://schemas.microsoft.com/office/powerpoint/2010/main" val="549443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F6D7A2C9-0C47-4F4F-84B7-746868B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Покритериальное решение преподавателя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2648B5DD-1C33-4F6C-83DF-49E6B736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714750"/>
                <a:gridCol w="4591050"/>
              </a:tblGrid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остаётся в отчёте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видит преподаватель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Исходный вывод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Статус, балл, события и версия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Автоматическое основание замечания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Решение по критерию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исход и причина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Выполнено, не выполнено или проверить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Общий итог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Подтверждённый балл с ревизией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После новой правки нужен повторный разбор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5">
            <a:extLst xmlns:a="http://schemas.openxmlformats.org/drawingml/2006/main">
              <a:ext uri="{FF2B5EF4-FFF2-40B4-BE49-F238E27FC236}">
                <a16:creationId xmlns:a16="http://schemas.microsoft.com/office/drawing/2014/main" id="{CF829CC7-BF3E-48B2-A5DB-35C9C5E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Учитель разрешает спорный факт без потери исходного вывода</a:t>
            </a:r>
          </a:p>
        </p:txBody>
      </p:sp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E307B66C-4D3B-4291-A82A-626AFC3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Код RC2 есть; экономия времени и удобство для преподавателей ещё не измерены.</a:t>
            </a:r>
          </a:p>
        </p:txBody>
      </p:sp>
    </p:spTree>
    <p:extLst>
      <p:ext uri="{BB962C8B-B14F-4D97-AF65-F5344CB8AC3E}">
        <p14:creationId xmlns:p14="http://schemas.microsoft.com/office/powerpoint/2010/main" val="1768357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7">
            <a:extLst xmlns:a="http://schemas.openxmlformats.org/drawingml/2006/main">
              <a:ext uri="{FF2B5EF4-FFF2-40B4-BE49-F238E27FC236}">
                <a16:creationId xmlns:a16="http://schemas.microsoft.com/office/drawing/2014/main" id="{9188723B-B3B1-4927-9C04-90CD97CE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Локальная работа и границы AI</a:t>
            </a:r>
          </a:p>
        </p:txBody>
      </p:sp>
      <p:sp>
        <p:nvSpPr>
          <p:cNvPr id="2" name="text-48">
            <a:extLst xmlns:a="http://schemas.openxmlformats.org/drawingml/2006/main">
              <a:ext uri="{FF2B5EF4-FFF2-40B4-BE49-F238E27FC236}">
                <a16:creationId xmlns:a16="http://schemas.microsoft.com/office/drawing/2014/main" id="{5B221BA6-5A2F-430C-B990-5DD9AEE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619500"/>
                <a:gridCol w="4210050"/>
              </a:tblGrid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Учебная функция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Кто подтверждает результат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Карточка, журнал и разбор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Преподаватель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Whisper small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Черновик доклада из записи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Учащийся перед отправкой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Qwen3-1.7B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Черновик сценария, узкий совет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Преподаватель проверяет факты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9">
            <a:extLst xmlns:a="http://schemas.openxmlformats.org/drawingml/2006/main">
              <a:ext uri="{FF2B5EF4-FFF2-40B4-BE49-F238E27FC236}">
                <a16:creationId xmlns:a16="http://schemas.microsoft.com/office/drawing/2014/main" id="{3E9184C5-9EE4-4F99-9D5D-1BAA55D8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Баллы задают правила и решение преподавателя</a:t>
            </a:r>
          </a:p>
        </p:txBody>
      </p:sp>
      <p:sp>
        <p:nvSpPr>
          <p:cNvPr id="5" name="text-50">
            <a:extLst xmlns:a="http://schemas.openxmlformats.org/drawingml/2006/main">
              <a:ext uri="{FF2B5EF4-FFF2-40B4-BE49-F238E27FC236}">
                <a16:creationId xmlns:a16="http://schemas.microsoft.com/office/drawing/2014/main" id="{22D13258-0999-4431-920E-4C85C5F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Полный текстовый цикл работает локально без моделей. Голосовые сервисы опциональны.</a:t>
            </a:r>
          </a:p>
        </p:txBody>
      </p:sp>
    </p:spTree>
    <p:extLst>
      <p:ext uri="{BB962C8B-B14F-4D97-AF65-F5344CB8AC3E}">
        <p14:creationId xmlns:p14="http://schemas.microsoft.com/office/powerpoint/2010/main" val="723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1">
            <a:extLst xmlns:a="http://schemas.openxmlformats.org/drawingml/2006/main">
              <a:ext uri="{FF2B5EF4-FFF2-40B4-BE49-F238E27FC236}">
                <a16:creationId xmlns:a16="http://schemas.microsoft.com/office/drawing/2014/main" id="{3E951BD0-1B2E-457B-AA8C-B2A6D8C6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Модель 4B не прошла заданный порог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CD3DFC7D-C9E7-4BA2-A2CD-65E8ED0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19400"/>
                <a:gridCol w="2819400"/>
              </a:tblGrid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 48 синтетических случаях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Qwen3-1.7B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Qwen3-4B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Верный ответ и допустимая схема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22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32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Ложное подтверждение критерия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схема ответа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48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39 / 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Время ответа p95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3,22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7,28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D528C697-82B5-476A-830D-96E597DA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Требовались 44/48 и ноль ложных подтверждений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3E843BBF-E0B6-48A5-BBDE-1F7B08B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Простая замена модели не решает проверку адресов, ролей и причинной последовательности.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2000355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ECEAE33D-EB21-48EB-A72A-592E936E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Покрытие и инженерные замеры</a:t>
            </a:r>
          </a:p>
        </p:txBody>
      </p:sp>
      <p:sp>
        <p:nvSpPr>
          <p:cNvPr id="2" name="text-56">
            <a:extLst xmlns:a="http://schemas.openxmlformats.org/drawingml/2006/main">
              <a:ext uri="{FF2B5EF4-FFF2-40B4-BE49-F238E27FC236}">
                <a16:creationId xmlns:a16="http://schemas.microsoft.com/office/drawing/2014/main" id="{1CB074CA-81B4-40F8-BE5C-2DB9E96D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143250"/>
                <a:gridCol w="4114800"/>
              </a:tblGrid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Измерение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Граница вывода</a:t>
                      </a:r>
                    </a:p>
                  </a:txBody>
                  <a:tcPr marL="91440" marR="91440" marT="45720" marB="45720" anchor="ctr">
                    <a:solidFill>
                      <a:srgbClr val="203538"/>
                    </a:solidFill>
                  </a:tcPr>
                </a:tc>
              </a:tr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API: 100 пользователей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p95 417 мс; 0 ошибок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Короткая серия запросов RC1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 активных попыток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200/200 событий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Все события прогона RC1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Синтетический набор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28/48 покрыты; 27/28 точно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3538"/>
                          </a:solidFill>
                          <a:latin typeface="Arial"/>
                          <a:ea typeface="Arial"/>
                          <a:cs typeface="Arial"/>
                        </a:rPr>
                        <a:t>20 случаев без результата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590E07C4-0422-48B0-92DF-5D902994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6E6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6E61"/>
                </a:solidFill>
                <a:latin typeface="Arial"/>
                <a:ea typeface="Arial"/>
                <a:cs typeface="Arial"/>
              </a:rPr>
              <a:t>Реальные учебные данные и методистский эталон ещё нужны</a:t>
            </a:r>
          </a:p>
        </p:txBody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F89B8CE4-467A-44A8-B65D-B3B41FFC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API-замер RC1 не подтверждает нагрузку изменённой версии или учебный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1304100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59">
            <a:extLst xmlns:a="http://schemas.openxmlformats.org/drawingml/2006/main">
              <a:ext uri="{FF2B5EF4-FFF2-40B4-BE49-F238E27FC236}">
                <a16:creationId xmlns:a16="http://schemas.microsoft.com/office/drawing/2014/main" id="{A89CC7DC-517F-4EA7-B23D-1A0595B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Методистский пилот: протокол готов</a:t>
            </a:r>
          </a:p>
        </p:txBody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BC9979AD-93FA-4F6A-A073-AE20FC0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64FB408F-3AA1-42AD-AFFA-18593BBF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Преподаватели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E3C79089-EF6E-44E6-AA5E-8D3DF021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9725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Два человека проверяют случаи вручную и в продукте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6142C8FE-43E2-4EDE-9821-2B4BEA4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Учащиеся</a:t>
            </a:r>
          </a:p>
        </p:txBody>
      </p:sp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4242C1EA-2CF3-4356-B7C2-94686B96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6–8 человек выполняют исходное и новое задание</a:t>
            </a:r>
          </a:p>
        </p:txBody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0C08C4CA-50A3-44B7-8461-79CAAC8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0C514CC4-3CAB-47F1-AB75-15FD8453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Раздельные экспертные решения по каждому критерию</a:t>
            </a:r>
          </a:p>
        </p:txBody>
      </p:sp>
      <p:sp>
        <p:nvSpPr>
          <p:cNvPr id="9" name="text-67">
            <a:extLst xmlns:a="http://schemas.openxmlformats.org/drawingml/2006/main">
              <a:ext uri="{FF2B5EF4-FFF2-40B4-BE49-F238E27FC236}">
                <a16:creationId xmlns:a16="http://schemas.microsoft.com/office/drawing/2014/main" id="{0C5AB4BE-41F2-4377-84ED-3EEAE52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538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0" name="text-68">
            <a:extLst xmlns:a="http://schemas.openxmlformats.org/drawingml/2006/main">
              <a:ext uri="{FF2B5EF4-FFF2-40B4-BE49-F238E27FC236}">
                <a16:creationId xmlns:a16="http://schemas.microsoft.com/office/drawing/2014/main" id="{B6DEFD0B-FB3C-4807-AC74-915899C5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В обоих условиях замерим подготовку, проверку и исправления</a:t>
            </a:r>
          </a:p>
        </p:txBody>
      </p:sp>
      <p:sp>
        <p:nvSpPr>
          <p:cNvPr id="11" name="text-69">
            <a:extLst xmlns:a="http://schemas.openxmlformats.org/drawingml/2006/main">
              <a:ext uri="{FF2B5EF4-FFF2-40B4-BE49-F238E27FC236}">
                <a16:creationId xmlns:a16="http://schemas.microsoft.com/office/drawing/2014/main" id="{C3189897-B9B0-43A4-A30F-FC738D84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3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36D"/>
                </a:solidFill>
                <a:latin typeface="Arial"/>
                <a:ea typeface="Arial"/>
                <a:cs typeface="Arial"/>
              </a:rPr>
              <a:t>Исследование ещё не проводилось. Порог экономии 20% задан заранее как гипотеза.</a:t>
            </a:r>
          </a:p>
        </p:txBody>
      </p:sp>
    </p:spTree>
    <p:extLst>
      <p:ext uri="{BB962C8B-B14F-4D97-AF65-F5344CB8AC3E}">
        <p14:creationId xmlns:p14="http://schemas.microsoft.com/office/powerpoint/2010/main" val="2041100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35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C6B311D2-1593-4B17-8E33-44232365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этап: учебный пилот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DBA25A32-1C0F-4728-9F77-93D94AC1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BCA249DF-2E5D-46E8-A3B1-E0A48D9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Измерить цену корректного разбора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преподавателя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944ECADA-B661-40D3-8A4D-DB3E829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6385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BED3C4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F960498E-27E5-4DE7-A91A-FCF55480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2902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целевой ориентир пилота,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без результата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D847F243-C025-4056-B727-E6E5565D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1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ED3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3C4"/>
                </a:solidFill>
                <a:latin typeface="Arial"/>
                <a:ea typeface="Arial"/>
                <a:cs typeface="Arial"/>
              </a:rPr>
              <a:t>Сначала согласовать рубрику и провести занятие на целевых ПК</a:t>
            </a:r>
          </a:p>
        </p:txBody>
      </p:sp>
    </p:spTree>
    <p:extLst>
      <p:ext uri="{BB962C8B-B14F-4D97-AF65-F5344CB8AC3E}">
        <p14:creationId xmlns:p14="http://schemas.microsoft.com/office/powerpoint/2010/main" val="1596450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2026-09-28T19:36:45.6670000Z</dcterms:created>
  <dcterms:modified xsi:type="dcterms:W3CDTF">2026-09-28T19:36:45.6670000Z</dcterms:modified>
</coreProperties>
</file>